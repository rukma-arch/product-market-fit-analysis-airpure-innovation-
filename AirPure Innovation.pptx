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60" r:id="rId5"/>
    <p:sldId id="261" r:id="rId6"/>
    <p:sldId id="262" r:id="rId7"/>
    <p:sldId id="263" r:id="rId8"/>
    <p:sldId id="264" r:id="rId9"/>
    <p:sldId id="265" r:id="rId10"/>
    <p:sldId id="266" r:id="rId11"/>
    <p:sldId id="268"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p:scale>
          <a:sx n="69" d="100"/>
          <a:sy n="69" d="100"/>
        </p:scale>
        <p:origin x="564" y="6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ukma pawar" userId="df78421d129df1f3" providerId="LiveId" clId="{3F961595-9DE3-4BBC-BBA4-B0353390E9DE}"/>
    <pc:docChg chg="custSel modSld">
      <pc:chgData name="rukma pawar" userId="df78421d129df1f3" providerId="LiveId" clId="{3F961595-9DE3-4BBC-BBA4-B0353390E9DE}" dt="2026-02-20T01:34:35.007" v="298" actId="207"/>
      <pc:docMkLst>
        <pc:docMk/>
      </pc:docMkLst>
      <pc:sldChg chg="modSp mod">
        <pc:chgData name="rukma pawar" userId="df78421d129df1f3" providerId="LiveId" clId="{3F961595-9DE3-4BBC-BBA4-B0353390E9DE}" dt="2026-02-20T01:17:44.070" v="1" actId="255"/>
        <pc:sldMkLst>
          <pc:docMk/>
          <pc:sldMk cId="2350399513" sldId="257"/>
        </pc:sldMkLst>
        <pc:spChg chg="mod">
          <ac:chgData name="rukma pawar" userId="df78421d129df1f3" providerId="LiveId" clId="{3F961595-9DE3-4BBC-BBA4-B0353390E9DE}" dt="2026-02-20T01:17:34.941" v="0" actId="255"/>
          <ac:spMkLst>
            <pc:docMk/>
            <pc:sldMk cId="2350399513" sldId="257"/>
            <ac:spMk id="3" creationId="{15A5E99B-56E6-291E-4781-1E0A64F805F2}"/>
          </ac:spMkLst>
        </pc:spChg>
        <pc:spChg chg="mod">
          <ac:chgData name="rukma pawar" userId="df78421d129df1f3" providerId="LiveId" clId="{3F961595-9DE3-4BBC-BBA4-B0353390E9DE}" dt="2026-02-20T01:17:44.070" v="1" actId="255"/>
          <ac:spMkLst>
            <pc:docMk/>
            <pc:sldMk cId="2350399513" sldId="257"/>
            <ac:spMk id="4" creationId="{BA49A4EC-1D54-195E-5A97-53EE3333A1AD}"/>
          </ac:spMkLst>
        </pc:spChg>
      </pc:sldChg>
      <pc:sldChg chg="modSp mod">
        <pc:chgData name="rukma pawar" userId="df78421d129df1f3" providerId="LiveId" clId="{3F961595-9DE3-4BBC-BBA4-B0353390E9DE}" dt="2026-02-20T01:19:11.468" v="6" actId="1076"/>
        <pc:sldMkLst>
          <pc:docMk/>
          <pc:sldMk cId="3283971750" sldId="260"/>
        </pc:sldMkLst>
        <pc:picChg chg="mod">
          <ac:chgData name="rukma pawar" userId="df78421d129df1f3" providerId="LiveId" clId="{3F961595-9DE3-4BBC-BBA4-B0353390E9DE}" dt="2026-02-20T01:19:06.519" v="3" actId="1076"/>
          <ac:picMkLst>
            <pc:docMk/>
            <pc:sldMk cId="3283971750" sldId="260"/>
            <ac:picMk id="12" creationId="{25140238-FD7C-2623-B672-7F172A785D36}"/>
          </ac:picMkLst>
        </pc:picChg>
        <pc:picChg chg="mod">
          <ac:chgData name="rukma pawar" userId="df78421d129df1f3" providerId="LiveId" clId="{3F961595-9DE3-4BBC-BBA4-B0353390E9DE}" dt="2026-02-20T01:19:11.468" v="6" actId="1076"/>
          <ac:picMkLst>
            <pc:docMk/>
            <pc:sldMk cId="3283971750" sldId="260"/>
            <ac:picMk id="13" creationId="{BF99DB30-BCB8-ECAD-3E63-629722F11299}"/>
          </ac:picMkLst>
        </pc:picChg>
        <pc:picChg chg="mod">
          <ac:chgData name="rukma pawar" userId="df78421d129df1f3" providerId="LiveId" clId="{3F961595-9DE3-4BBC-BBA4-B0353390E9DE}" dt="2026-02-20T01:19:09.780" v="5" actId="1076"/>
          <ac:picMkLst>
            <pc:docMk/>
            <pc:sldMk cId="3283971750" sldId="260"/>
            <ac:picMk id="14" creationId="{D651B884-FE3C-2E0A-44F7-3D583676A3A3}"/>
          </ac:picMkLst>
        </pc:picChg>
      </pc:sldChg>
      <pc:sldChg chg="modSp mod">
        <pc:chgData name="rukma pawar" userId="df78421d129df1f3" providerId="LiveId" clId="{3F961595-9DE3-4BBC-BBA4-B0353390E9DE}" dt="2026-02-20T01:23:07.995" v="118" actId="20577"/>
        <pc:sldMkLst>
          <pc:docMk/>
          <pc:sldMk cId="1184090078" sldId="261"/>
        </pc:sldMkLst>
        <pc:spChg chg="mod">
          <ac:chgData name="rukma pawar" userId="df78421d129df1f3" providerId="LiveId" clId="{3F961595-9DE3-4BBC-BBA4-B0353390E9DE}" dt="2026-02-20T01:23:07.995" v="118" actId="20577"/>
          <ac:spMkLst>
            <pc:docMk/>
            <pc:sldMk cId="1184090078" sldId="261"/>
            <ac:spMk id="4" creationId="{AE17209D-F222-B9A9-47A0-5F165781B599}"/>
          </ac:spMkLst>
        </pc:spChg>
      </pc:sldChg>
      <pc:sldChg chg="modSp mod">
        <pc:chgData name="rukma pawar" userId="df78421d129df1f3" providerId="LiveId" clId="{3F961595-9DE3-4BBC-BBA4-B0353390E9DE}" dt="2026-02-20T01:25:41.381" v="133" actId="20577"/>
        <pc:sldMkLst>
          <pc:docMk/>
          <pc:sldMk cId="2276521003" sldId="263"/>
        </pc:sldMkLst>
        <pc:spChg chg="mod">
          <ac:chgData name="rukma pawar" userId="df78421d129df1f3" providerId="LiveId" clId="{3F961595-9DE3-4BBC-BBA4-B0353390E9DE}" dt="2026-02-20T01:25:41.381" v="133" actId="20577"/>
          <ac:spMkLst>
            <pc:docMk/>
            <pc:sldMk cId="2276521003" sldId="263"/>
            <ac:spMk id="7" creationId="{62F8A949-7E4C-DD68-2A59-C18FA47809B9}"/>
          </ac:spMkLst>
        </pc:spChg>
      </pc:sldChg>
      <pc:sldChg chg="modSp mod">
        <pc:chgData name="rukma pawar" userId="df78421d129df1f3" providerId="LiveId" clId="{3F961595-9DE3-4BBC-BBA4-B0353390E9DE}" dt="2026-02-20T01:26:38.254" v="157" actId="20577"/>
        <pc:sldMkLst>
          <pc:docMk/>
          <pc:sldMk cId="1815143887" sldId="264"/>
        </pc:sldMkLst>
        <pc:spChg chg="mod">
          <ac:chgData name="rukma pawar" userId="df78421d129df1f3" providerId="LiveId" clId="{3F961595-9DE3-4BBC-BBA4-B0353390E9DE}" dt="2026-02-20T01:26:38.254" v="157" actId="20577"/>
          <ac:spMkLst>
            <pc:docMk/>
            <pc:sldMk cId="1815143887" sldId="264"/>
            <ac:spMk id="4" creationId="{B4C95586-C2E5-8FEE-43EB-0372E0EFC3DA}"/>
          </ac:spMkLst>
        </pc:spChg>
      </pc:sldChg>
      <pc:sldChg chg="modSp mod">
        <pc:chgData name="rukma pawar" userId="df78421d129df1f3" providerId="LiveId" clId="{3F961595-9DE3-4BBC-BBA4-B0353390E9DE}" dt="2026-02-20T01:34:05.639" v="291" actId="207"/>
        <pc:sldMkLst>
          <pc:docMk/>
          <pc:sldMk cId="3779467189" sldId="266"/>
        </pc:sldMkLst>
        <pc:spChg chg="mod">
          <ac:chgData name="rukma pawar" userId="df78421d129df1f3" providerId="LiveId" clId="{3F961595-9DE3-4BBC-BBA4-B0353390E9DE}" dt="2026-02-20T01:34:05.639" v="291" actId="207"/>
          <ac:spMkLst>
            <pc:docMk/>
            <pc:sldMk cId="3779467189" sldId="266"/>
            <ac:spMk id="4" creationId="{F419CD88-FED6-0000-1BA2-B340999C9C9F}"/>
          </ac:spMkLst>
        </pc:spChg>
      </pc:sldChg>
      <pc:sldChg chg="modSp mod">
        <pc:chgData name="rukma pawar" userId="df78421d129df1f3" providerId="LiveId" clId="{3F961595-9DE3-4BBC-BBA4-B0353390E9DE}" dt="2026-02-20T01:34:35.007" v="298" actId="207"/>
        <pc:sldMkLst>
          <pc:docMk/>
          <pc:sldMk cId="144273781" sldId="268"/>
        </pc:sldMkLst>
        <pc:spChg chg="mod">
          <ac:chgData name="rukma pawar" userId="df78421d129df1f3" providerId="LiveId" clId="{3F961595-9DE3-4BBC-BBA4-B0353390E9DE}" dt="2026-02-20T01:34:35.007" v="298" actId="207"/>
          <ac:spMkLst>
            <pc:docMk/>
            <pc:sldMk cId="144273781" sldId="268"/>
            <ac:spMk id="2" creationId="{BDDEB116-6928-24D6-8834-58D45E89A813}"/>
          </ac:spMkLst>
        </pc:spChg>
        <pc:spChg chg="mod">
          <ac:chgData name="rukma pawar" userId="df78421d129df1f3" providerId="LiveId" clId="{3F961595-9DE3-4BBC-BBA4-B0353390E9DE}" dt="2026-02-20T01:34:12.145" v="292" actId="207"/>
          <ac:spMkLst>
            <pc:docMk/>
            <pc:sldMk cId="144273781" sldId="268"/>
            <ac:spMk id="3" creationId="{F57FA0D5-B240-8839-7A86-4A635630B8C5}"/>
          </ac:spMkLst>
        </pc:spChg>
        <pc:spChg chg="mod">
          <ac:chgData name="rukma pawar" userId="df78421d129df1f3" providerId="LiveId" clId="{3F961595-9DE3-4BBC-BBA4-B0353390E9DE}" dt="2026-02-20T01:34:15.033" v="293" actId="207"/>
          <ac:spMkLst>
            <pc:docMk/>
            <pc:sldMk cId="144273781" sldId="268"/>
            <ac:spMk id="4" creationId="{8D2F8628-3A16-454E-4514-75A37AE1274F}"/>
          </ac:spMkLst>
        </pc:spChg>
        <pc:spChg chg="mod">
          <ac:chgData name="rukma pawar" userId="df78421d129df1f3" providerId="LiveId" clId="{3F961595-9DE3-4BBC-BBA4-B0353390E9DE}" dt="2026-02-20T01:34:31.920" v="297" actId="207"/>
          <ac:spMkLst>
            <pc:docMk/>
            <pc:sldMk cId="144273781" sldId="268"/>
            <ac:spMk id="5" creationId="{C4DCDA72-D666-C47F-EFD5-FDED2A31925C}"/>
          </ac:spMkLst>
        </pc:spChg>
        <pc:spChg chg="mod">
          <ac:chgData name="rukma pawar" userId="df78421d129df1f3" providerId="LiveId" clId="{3F961595-9DE3-4BBC-BBA4-B0353390E9DE}" dt="2026-02-20T01:34:21.632" v="295" actId="207"/>
          <ac:spMkLst>
            <pc:docMk/>
            <pc:sldMk cId="144273781" sldId="268"/>
            <ac:spMk id="6" creationId="{0A252C00-F6E8-CA5E-02B9-B7E9234F4312}"/>
          </ac:spMkLst>
        </pc:spChg>
        <pc:spChg chg="mod">
          <ac:chgData name="rukma pawar" userId="df78421d129df1f3" providerId="LiveId" clId="{3F961595-9DE3-4BBC-BBA4-B0353390E9DE}" dt="2026-02-20T01:34:27.183" v="296" actId="207"/>
          <ac:spMkLst>
            <pc:docMk/>
            <pc:sldMk cId="144273781" sldId="268"/>
            <ac:spMk id="7" creationId="{F228CF25-D74F-B4FE-359B-8A5B2BD208FA}"/>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02C3F0-9E52-6262-FBE3-7D26AC6EA57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66C5DEA5-58E6-B2AB-1E08-9524A8FEA6B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966D5379-F959-09FA-8C36-81278E99A8A9}"/>
              </a:ext>
            </a:extLst>
          </p:cNvPr>
          <p:cNvSpPr>
            <a:spLocks noGrp="1"/>
          </p:cNvSpPr>
          <p:nvPr>
            <p:ph type="dt" sz="half" idx="10"/>
          </p:nvPr>
        </p:nvSpPr>
        <p:spPr/>
        <p:txBody>
          <a:bodyPr/>
          <a:lstStyle/>
          <a:p>
            <a:fld id="{0D221087-58FB-48B1-B678-32083D4FD7F9}" type="datetimeFigureOut">
              <a:rPr lang="en-IN" smtClean="0"/>
              <a:t>19-02-2026</a:t>
            </a:fld>
            <a:endParaRPr lang="en-IN"/>
          </a:p>
        </p:txBody>
      </p:sp>
      <p:sp>
        <p:nvSpPr>
          <p:cNvPr id="5" name="Footer Placeholder 4">
            <a:extLst>
              <a:ext uri="{FF2B5EF4-FFF2-40B4-BE49-F238E27FC236}">
                <a16:creationId xmlns:a16="http://schemas.microsoft.com/office/drawing/2014/main" id="{7D702ED2-4A8D-9677-B25F-860F0465981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6E57FEB-F709-F7C1-A179-81EA1766203E}"/>
              </a:ext>
            </a:extLst>
          </p:cNvPr>
          <p:cNvSpPr>
            <a:spLocks noGrp="1"/>
          </p:cNvSpPr>
          <p:nvPr>
            <p:ph type="sldNum" sz="quarter" idx="12"/>
          </p:nvPr>
        </p:nvSpPr>
        <p:spPr/>
        <p:txBody>
          <a:bodyPr/>
          <a:lstStyle/>
          <a:p>
            <a:fld id="{CB120183-323D-4290-A749-445A20B72F78}" type="slidenum">
              <a:rPr lang="en-IN" smtClean="0"/>
              <a:t>‹#›</a:t>
            </a:fld>
            <a:endParaRPr lang="en-IN"/>
          </a:p>
        </p:txBody>
      </p:sp>
    </p:spTree>
    <p:extLst>
      <p:ext uri="{BB962C8B-B14F-4D97-AF65-F5344CB8AC3E}">
        <p14:creationId xmlns:p14="http://schemas.microsoft.com/office/powerpoint/2010/main" val="152587599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D3829A-162C-D317-7E9D-D8585E931C2D}"/>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7ED461FA-5A33-3B00-4DDC-FC21F7E4977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6482255-68E2-D840-6ED5-AF2FC4D0C22C}"/>
              </a:ext>
            </a:extLst>
          </p:cNvPr>
          <p:cNvSpPr>
            <a:spLocks noGrp="1"/>
          </p:cNvSpPr>
          <p:nvPr>
            <p:ph type="dt" sz="half" idx="10"/>
          </p:nvPr>
        </p:nvSpPr>
        <p:spPr/>
        <p:txBody>
          <a:bodyPr/>
          <a:lstStyle/>
          <a:p>
            <a:fld id="{0D221087-58FB-48B1-B678-32083D4FD7F9}" type="datetimeFigureOut">
              <a:rPr lang="en-IN" smtClean="0"/>
              <a:t>19-02-2026</a:t>
            </a:fld>
            <a:endParaRPr lang="en-IN"/>
          </a:p>
        </p:txBody>
      </p:sp>
      <p:sp>
        <p:nvSpPr>
          <p:cNvPr id="5" name="Footer Placeholder 4">
            <a:extLst>
              <a:ext uri="{FF2B5EF4-FFF2-40B4-BE49-F238E27FC236}">
                <a16:creationId xmlns:a16="http://schemas.microsoft.com/office/drawing/2014/main" id="{C8EA4B70-0105-88A8-E883-4F17F25A61E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B18A6BE-942A-0593-EF1E-415A05969882}"/>
              </a:ext>
            </a:extLst>
          </p:cNvPr>
          <p:cNvSpPr>
            <a:spLocks noGrp="1"/>
          </p:cNvSpPr>
          <p:nvPr>
            <p:ph type="sldNum" sz="quarter" idx="12"/>
          </p:nvPr>
        </p:nvSpPr>
        <p:spPr/>
        <p:txBody>
          <a:bodyPr/>
          <a:lstStyle/>
          <a:p>
            <a:fld id="{CB120183-323D-4290-A749-445A20B72F78}" type="slidenum">
              <a:rPr lang="en-IN" smtClean="0"/>
              <a:t>‹#›</a:t>
            </a:fld>
            <a:endParaRPr lang="en-IN"/>
          </a:p>
        </p:txBody>
      </p:sp>
    </p:spTree>
    <p:extLst>
      <p:ext uri="{BB962C8B-B14F-4D97-AF65-F5344CB8AC3E}">
        <p14:creationId xmlns:p14="http://schemas.microsoft.com/office/powerpoint/2010/main" val="309080454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0D1450-26DD-2140-E61E-DDCEEC4EAE7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10F1ED6E-7475-8ED2-D6AD-D5AFD5F55A8D}"/>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53D9D15-B576-517D-78F5-6D47D87B7068}"/>
              </a:ext>
            </a:extLst>
          </p:cNvPr>
          <p:cNvSpPr>
            <a:spLocks noGrp="1"/>
          </p:cNvSpPr>
          <p:nvPr>
            <p:ph type="dt" sz="half" idx="10"/>
          </p:nvPr>
        </p:nvSpPr>
        <p:spPr/>
        <p:txBody>
          <a:bodyPr/>
          <a:lstStyle/>
          <a:p>
            <a:fld id="{0D221087-58FB-48B1-B678-32083D4FD7F9}" type="datetimeFigureOut">
              <a:rPr lang="en-IN" smtClean="0"/>
              <a:t>19-02-2026</a:t>
            </a:fld>
            <a:endParaRPr lang="en-IN"/>
          </a:p>
        </p:txBody>
      </p:sp>
      <p:sp>
        <p:nvSpPr>
          <p:cNvPr id="5" name="Footer Placeholder 4">
            <a:extLst>
              <a:ext uri="{FF2B5EF4-FFF2-40B4-BE49-F238E27FC236}">
                <a16:creationId xmlns:a16="http://schemas.microsoft.com/office/drawing/2014/main" id="{8F2DCE97-C112-F5E6-EB87-E94635790BC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5DE16F9-C01E-078E-4166-FACCAAB1DFA9}"/>
              </a:ext>
            </a:extLst>
          </p:cNvPr>
          <p:cNvSpPr>
            <a:spLocks noGrp="1"/>
          </p:cNvSpPr>
          <p:nvPr>
            <p:ph type="sldNum" sz="quarter" idx="12"/>
          </p:nvPr>
        </p:nvSpPr>
        <p:spPr/>
        <p:txBody>
          <a:bodyPr/>
          <a:lstStyle/>
          <a:p>
            <a:fld id="{CB120183-323D-4290-A749-445A20B72F78}" type="slidenum">
              <a:rPr lang="en-IN" smtClean="0"/>
              <a:t>‹#›</a:t>
            </a:fld>
            <a:endParaRPr lang="en-IN"/>
          </a:p>
        </p:txBody>
      </p:sp>
    </p:spTree>
    <p:extLst>
      <p:ext uri="{BB962C8B-B14F-4D97-AF65-F5344CB8AC3E}">
        <p14:creationId xmlns:p14="http://schemas.microsoft.com/office/powerpoint/2010/main" val="119309706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C0EF70-B302-349E-1115-8B1BAADF1E27}"/>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8C6C6389-D19B-D83A-1CA5-F988F5F0B6DE}"/>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344D3FCC-5083-6477-6FC6-A023C4DF15F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E4789E81-95E6-0A59-DAE1-ED2EE481204A}"/>
              </a:ext>
            </a:extLst>
          </p:cNvPr>
          <p:cNvSpPr>
            <a:spLocks noGrp="1"/>
          </p:cNvSpPr>
          <p:nvPr>
            <p:ph type="dt" sz="half" idx="10"/>
          </p:nvPr>
        </p:nvSpPr>
        <p:spPr/>
        <p:txBody>
          <a:bodyPr/>
          <a:lstStyle/>
          <a:p>
            <a:fld id="{0D221087-58FB-48B1-B678-32083D4FD7F9}" type="datetimeFigureOut">
              <a:rPr lang="en-IN" smtClean="0"/>
              <a:t>19-02-2026</a:t>
            </a:fld>
            <a:endParaRPr lang="en-IN"/>
          </a:p>
        </p:txBody>
      </p:sp>
      <p:sp>
        <p:nvSpPr>
          <p:cNvPr id="6" name="Footer Placeholder 5">
            <a:extLst>
              <a:ext uri="{FF2B5EF4-FFF2-40B4-BE49-F238E27FC236}">
                <a16:creationId xmlns:a16="http://schemas.microsoft.com/office/drawing/2014/main" id="{EC03CE9B-FC57-6B50-A633-E9256E0F4E63}"/>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B7F736A6-4ED5-86F5-9594-ED1BC8E95B1A}"/>
              </a:ext>
            </a:extLst>
          </p:cNvPr>
          <p:cNvSpPr>
            <a:spLocks noGrp="1"/>
          </p:cNvSpPr>
          <p:nvPr>
            <p:ph type="sldNum" sz="quarter" idx="12"/>
          </p:nvPr>
        </p:nvSpPr>
        <p:spPr/>
        <p:txBody>
          <a:bodyPr/>
          <a:lstStyle/>
          <a:p>
            <a:fld id="{CB120183-323D-4290-A749-445A20B72F78}" type="slidenum">
              <a:rPr lang="en-IN" smtClean="0"/>
              <a:t>‹#›</a:t>
            </a:fld>
            <a:endParaRPr lang="en-IN"/>
          </a:p>
        </p:txBody>
      </p:sp>
    </p:spTree>
    <p:extLst>
      <p:ext uri="{BB962C8B-B14F-4D97-AF65-F5344CB8AC3E}">
        <p14:creationId xmlns:p14="http://schemas.microsoft.com/office/powerpoint/2010/main" val="135638473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8CBDF2-91CC-114E-E94A-0D64F3C67165}"/>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F8B2078B-B9EE-8068-CB30-2F09CAAA1BA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F613143-FA52-057B-069F-E3FFD990BDC5}"/>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FE5BC919-C806-BB1E-5347-6873AA5CEFC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91F3E11-2B43-9B4F-5DDB-CC124790AFC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A9C88AAD-78A0-9BD3-8ED4-65968966CE7C}"/>
              </a:ext>
            </a:extLst>
          </p:cNvPr>
          <p:cNvSpPr>
            <a:spLocks noGrp="1"/>
          </p:cNvSpPr>
          <p:nvPr>
            <p:ph type="dt" sz="half" idx="10"/>
          </p:nvPr>
        </p:nvSpPr>
        <p:spPr/>
        <p:txBody>
          <a:bodyPr/>
          <a:lstStyle/>
          <a:p>
            <a:fld id="{0D221087-58FB-48B1-B678-32083D4FD7F9}" type="datetimeFigureOut">
              <a:rPr lang="en-IN" smtClean="0"/>
              <a:t>19-02-2026</a:t>
            </a:fld>
            <a:endParaRPr lang="en-IN"/>
          </a:p>
        </p:txBody>
      </p:sp>
      <p:sp>
        <p:nvSpPr>
          <p:cNvPr id="8" name="Footer Placeholder 7">
            <a:extLst>
              <a:ext uri="{FF2B5EF4-FFF2-40B4-BE49-F238E27FC236}">
                <a16:creationId xmlns:a16="http://schemas.microsoft.com/office/drawing/2014/main" id="{E70E603A-FF48-394F-ABA4-35CA5EE08433}"/>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909490B9-5269-E675-4518-D14207C0C092}"/>
              </a:ext>
            </a:extLst>
          </p:cNvPr>
          <p:cNvSpPr>
            <a:spLocks noGrp="1"/>
          </p:cNvSpPr>
          <p:nvPr>
            <p:ph type="sldNum" sz="quarter" idx="12"/>
          </p:nvPr>
        </p:nvSpPr>
        <p:spPr/>
        <p:txBody>
          <a:bodyPr/>
          <a:lstStyle/>
          <a:p>
            <a:fld id="{CB120183-323D-4290-A749-445A20B72F78}" type="slidenum">
              <a:rPr lang="en-IN" smtClean="0"/>
              <a:t>‹#›</a:t>
            </a:fld>
            <a:endParaRPr lang="en-IN"/>
          </a:p>
        </p:txBody>
      </p:sp>
    </p:spTree>
    <p:extLst>
      <p:ext uri="{BB962C8B-B14F-4D97-AF65-F5344CB8AC3E}">
        <p14:creationId xmlns:p14="http://schemas.microsoft.com/office/powerpoint/2010/main" val="112161093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DB4357-8C6F-A72C-C5DD-69BB4A84D6D0}"/>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8786BE72-2BB5-A846-257C-BC3560926CCE}"/>
              </a:ext>
            </a:extLst>
          </p:cNvPr>
          <p:cNvSpPr>
            <a:spLocks noGrp="1"/>
          </p:cNvSpPr>
          <p:nvPr>
            <p:ph type="dt" sz="half" idx="10"/>
          </p:nvPr>
        </p:nvSpPr>
        <p:spPr/>
        <p:txBody>
          <a:bodyPr/>
          <a:lstStyle/>
          <a:p>
            <a:fld id="{0D221087-58FB-48B1-B678-32083D4FD7F9}" type="datetimeFigureOut">
              <a:rPr lang="en-IN" smtClean="0"/>
              <a:t>19-02-2026</a:t>
            </a:fld>
            <a:endParaRPr lang="en-IN"/>
          </a:p>
        </p:txBody>
      </p:sp>
      <p:sp>
        <p:nvSpPr>
          <p:cNvPr id="4" name="Footer Placeholder 3">
            <a:extLst>
              <a:ext uri="{FF2B5EF4-FFF2-40B4-BE49-F238E27FC236}">
                <a16:creationId xmlns:a16="http://schemas.microsoft.com/office/drawing/2014/main" id="{3FF1FD36-15A2-BA28-E4E7-5A2BE26F62F9}"/>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589AEAB9-0D4B-C29B-FA50-CF9DC96E3214}"/>
              </a:ext>
            </a:extLst>
          </p:cNvPr>
          <p:cNvSpPr>
            <a:spLocks noGrp="1"/>
          </p:cNvSpPr>
          <p:nvPr>
            <p:ph type="sldNum" sz="quarter" idx="12"/>
          </p:nvPr>
        </p:nvSpPr>
        <p:spPr/>
        <p:txBody>
          <a:bodyPr/>
          <a:lstStyle/>
          <a:p>
            <a:fld id="{CB120183-323D-4290-A749-445A20B72F78}" type="slidenum">
              <a:rPr lang="en-IN" smtClean="0"/>
              <a:t>‹#›</a:t>
            </a:fld>
            <a:endParaRPr lang="en-IN"/>
          </a:p>
        </p:txBody>
      </p:sp>
    </p:spTree>
    <p:extLst>
      <p:ext uri="{BB962C8B-B14F-4D97-AF65-F5344CB8AC3E}">
        <p14:creationId xmlns:p14="http://schemas.microsoft.com/office/powerpoint/2010/main" val="202827445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EFD98B0-6C60-7819-FE88-EA231C62885D}"/>
              </a:ext>
            </a:extLst>
          </p:cNvPr>
          <p:cNvSpPr>
            <a:spLocks noGrp="1"/>
          </p:cNvSpPr>
          <p:nvPr>
            <p:ph type="dt" sz="half" idx="10"/>
          </p:nvPr>
        </p:nvSpPr>
        <p:spPr/>
        <p:txBody>
          <a:bodyPr/>
          <a:lstStyle/>
          <a:p>
            <a:fld id="{0D221087-58FB-48B1-B678-32083D4FD7F9}" type="datetimeFigureOut">
              <a:rPr lang="en-IN" smtClean="0"/>
              <a:t>19-02-2026</a:t>
            </a:fld>
            <a:endParaRPr lang="en-IN"/>
          </a:p>
        </p:txBody>
      </p:sp>
      <p:sp>
        <p:nvSpPr>
          <p:cNvPr id="3" name="Footer Placeholder 2">
            <a:extLst>
              <a:ext uri="{FF2B5EF4-FFF2-40B4-BE49-F238E27FC236}">
                <a16:creationId xmlns:a16="http://schemas.microsoft.com/office/drawing/2014/main" id="{CAA9A9F3-2BB6-5E61-766F-53C7A1A7E10F}"/>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5F78013C-7704-BFC0-49C5-7B96B84E7DA8}"/>
              </a:ext>
            </a:extLst>
          </p:cNvPr>
          <p:cNvSpPr>
            <a:spLocks noGrp="1"/>
          </p:cNvSpPr>
          <p:nvPr>
            <p:ph type="sldNum" sz="quarter" idx="12"/>
          </p:nvPr>
        </p:nvSpPr>
        <p:spPr/>
        <p:txBody>
          <a:bodyPr/>
          <a:lstStyle/>
          <a:p>
            <a:fld id="{CB120183-323D-4290-A749-445A20B72F78}" type="slidenum">
              <a:rPr lang="en-IN" smtClean="0"/>
              <a:t>‹#›</a:t>
            </a:fld>
            <a:endParaRPr lang="en-IN"/>
          </a:p>
        </p:txBody>
      </p:sp>
    </p:spTree>
    <p:extLst>
      <p:ext uri="{BB962C8B-B14F-4D97-AF65-F5344CB8AC3E}">
        <p14:creationId xmlns:p14="http://schemas.microsoft.com/office/powerpoint/2010/main" val="243037952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4F5B46-39A1-059D-91F6-F311BB46622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9636BC95-A7B2-4FD9-12B1-A1026E146B3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64066DDC-A85D-8FB6-3EBC-2639787F2EF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BCAC88A-9B59-5F22-22BA-75FF1AD9BB8A}"/>
              </a:ext>
            </a:extLst>
          </p:cNvPr>
          <p:cNvSpPr>
            <a:spLocks noGrp="1"/>
          </p:cNvSpPr>
          <p:nvPr>
            <p:ph type="dt" sz="half" idx="10"/>
          </p:nvPr>
        </p:nvSpPr>
        <p:spPr/>
        <p:txBody>
          <a:bodyPr/>
          <a:lstStyle/>
          <a:p>
            <a:fld id="{0D221087-58FB-48B1-B678-32083D4FD7F9}" type="datetimeFigureOut">
              <a:rPr lang="en-IN" smtClean="0"/>
              <a:t>19-02-2026</a:t>
            </a:fld>
            <a:endParaRPr lang="en-IN"/>
          </a:p>
        </p:txBody>
      </p:sp>
      <p:sp>
        <p:nvSpPr>
          <p:cNvPr id="6" name="Footer Placeholder 5">
            <a:extLst>
              <a:ext uri="{FF2B5EF4-FFF2-40B4-BE49-F238E27FC236}">
                <a16:creationId xmlns:a16="http://schemas.microsoft.com/office/drawing/2014/main" id="{5F3C9FD4-A10B-B14F-3812-B0BD26412EA1}"/>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0F473910-DB90-622F-AB27-67D500067E5E}"/>
              </a:ext>
            </a:extLst>
          </p:cNvPr>
          <p:cNvSpPr>
            <a:spLocks noGrp="1"/>
          </p:cNvSpPr>
          <p:nvPr>
            <p:ph type="sldNum" sz="quarter" idx="12"/>
          </p:nvPr>
        </p:nvSpPr>
        <p:spPr/>
        <p:txBody>
          <a:bodyPr/>
          <a:lstStyle/>
          <a:p>
            <a:fld id="{CB120183-323D-4290-A749-445A20B72F78}" type="slidenum">
              <a:rPr lang="en-IN" smtClean="0"/>
              <a:t>‹#›</a:t>
            </a:fld>
            <a:endParaRPr lang="en-IN"/>
          </a:p>
        </p:txBody>
      </p:sp>
    </p:spTree>
    <p:extLst>
      <p:ext uri="{BB962C8B-B14F-4D97-AF65-F5344CB8AC3E}">
        <p14:creationId xmlns:p14="http://schemas.microsoft.com/office/powerpoint/2010/main" val="396278183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44F9DF-10E0-4870-737B-300C739C8D9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5F55C8C0-6437-3085-6F9F-144019E3137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D0C4F3ED-2070-6064-2ED7-B71DBCF6954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89CD1AB-5E45-2BD4-E3FB-8A5D08AF4217}"/>
              </a:ext>
            </a:extLst>
          </p:cNvPr>
          <p:cNvSpPr>
            <a:spLocks noGrp="1"/>
          </p:cNvSpPr>
          <p:nvPr>
            <p:ph type="dt" sz="half" idx="10"/>
          </p:nvPr>
        </p:nvSpPr>
        <p:spPr/>
        <p:txBody>
          <a:bodyPr/>
          <a:lstStyle/>
          <a:p>
            <a:fld id="{0D221087-58FB-48B1-B678-32083D4FD7F9}" type="datetimeFigureOut">
              <a:rPr lang="en-IN" smtClean="0"/>
              <a:t>19-02-2026</a:t>
            </a:fld>
            <a:endParaRPr lang="en-IN"/>
          </a:p>
        </p:txBody>
      </p:sp>
      <p:sp>
        <p:nvSpPr>
          <p:cNvPr id="6" name="Footer Placeholder 5">
            <a:extLst>
              <a:ext uri="{FF2B5EF4-FFF2-40B4-BE49-F238E27FC236}">
                <a16:creationId xmlns:a16="http://schemas.microsoft.com/office/drawing/2014/main" id="{33AF2986-EA0C-4AF2-9D90-FAD9C14992C6}"/>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3B2701EC-9E3E-2C20-0CEF-6EB2983B5D2E}"/>
              </a:ext>
            </a:extLst>
          </p:cNvPr>
          <p:cNvSpPr>
            <a:spLocks noGrp="1"/>
          </p:cNvSpPr>
          <p:nvPr>
            <p:ph type="sldNum" sz="quarter" idx="12"/>
          </p:nvPr>
        </p:nvSpPr>
        <p:spPr/>
        <p:txBody>
          <a:bodyPr/>
          <a:lstStyle/>
          <a:p>
            <a:fld id="{CB120183-323D-4290-A749-445A20B72F78}" type="slidenum">
              <a:rPr lang="en-IN" smtClean="0"/>
              <a:t>‹#›</a:t>
            </a:fld>
            <a:endParaRPr lang="en-IN"/>
          </a:p>
        </p:txBody>
      </p:sp>
    </p:spTree>
    <p:extLst>
      <p:ext uri="{BB962C8B-B14F-4D97-AF65-F5344CB8AC3E}">
        <p14:creationId xmlns:p14="http://schemas.microsoft.com/office/powerpoint/2010/main" val="122527070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4B88F1-C5F5-52E5-C5FF-9ECC5F65DDDB}"/>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864FAE46-0B36-C9F0-2C78-EE82F870169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9B152DC-28E0-9F50-AE90-2E175C26F4D1}"/>
              </a:ext>
            </a:extLst>
          </p:cNvPr>
          <p:cNvSpPr>
            <a:spLocks noGrp="1"/>
          </p:cNvSpPr>
          <p:nvPr>
            <p:ph type="dt" sz="half" idx="10"/>
          </p:nvPr>
        </p:nvSpPr>
        <p:spPr/>
        <p:txBody>
          <a:bodyPr/>
          <a:lstStyle/>
          <a:p>
            <a:fld id="{0D221087-58FB-48B1-B678-32083D4FD7F9}" type="datetimeFigureOut">
              <a:rPr lang="en-IN" smtClean="0"/>
              <a:t>19-02-2026</a:t>
            </a:fld>
            <a:endParaRPr lang="en-IN"/>
          </a:p>
        </p:txBody>
      </p:sp>
      <p:sp>
        <p:nvSpPr>
          <p:cNvPr id="5" name="Footer Placeholder 4">
            <a:extLst>
              <a:ext uri="{FF2B5EF4-FFF2-40B4-BE49-F238E27FC236}">
                <a16:creationId xmlns:a16="http://schemas.microsoft.com/office/drawing/2014/main" id="{EEECD438-1829-1BDF-AAC4-67843856AF2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7EC838C-39C6-2ACF-FFD0-7336D1F8A044}"/>
              </a:ext>
            </a:extLst>
          </p:cNvPr>
          <p:cNvSpPr>
            <a:spLocks noGrp="1"/>
          </p:cNvSpPr>
          <p:nvPr>
            <p:ph type="sldNum" sz="quarter" idx="12"/>
          </p:nvPr>
        </p:nvSpPr>
        <p:spPr/>
        <p:txBody>
          <a:bodyPr/>
          <a:lstStyle/>
          <a:p>
            <a:fld id="{CB120183-323D-4290-A749-445A20B72F78}" type="slidenum">
              <a:rPr lang="en-IN" smtClean="0"/>
              <a:t>‹#›</a:t>
            </a:fld>
            <a:endParaRPr lang="en-IN"/>
          </a:p>
        </p:txBody>
      </p:sp>
    </p:spTree>
    <p:extLst>
      <p:ext uri="{BB962C8B-B14F-4D97-AF65-F5344CB8AC3E}">
        <p14:creationId xmlns:p14="http://schemas.microsoft.com/office/powerpoint/2010/main" val="218896448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A8B8EA1-188F-1AF0-BB3A-E6101243AB19}"/>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41C8365C-4A9C-2287-D714-2DFAD0BB72DE}"/>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3037758-3049-30E7-EDBF-8C4B547866C6}"/>
              </a:ext>
            </a:extLst>
          </p:cNvPr>
          <p:cNvSpPr>
            <a:spLocks noGrp="1"/>
          </p:cNvSpPr>
          <p:nvPr>
            <p:ph type="dt" sz="half" idx="10"/>
          </p:nvPr>
        </p:nvSpPr>
        <p:spPr/>
        <p:txBody>
          <a:bodyPr/>
          <a:lstStyle/>
          <a:p>
            <a:fld id="{0D221087-58FB-48B1-B678-32083D4FD7F9}" type="datetimeFigureOut">
              <a:rPr lang="en-IN" smtClean="0"/>
              <a:t>19-02-2026</a:t>
            </a:fld>
            <a:endParaRPr lang="en-IN"/>
          </a:p>
        </p:txBody>
      </p:sp>
      <p:sp>
        <p:nvSpPr>
          <p:cNvPr id="5" name="Footer Placeholder 4">
            <a:extLst>
              <a:ext uri="{FF2B5EF4-FFF2-40B4-BE49-F238E27FC236}">
                <a16:creationId xmlns:a16="http://schemas.microsoft.com/office/drawing/2014/main" id="{F00C2803-1F50-D612-21AA-B96267F0491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4141135-595A-D7BE-CFB3-5A5E0ADBB98C}"/>
              </a:ext>
            </a:extLst>
          </p:cNvPr>
          <p:cNvSpPr>
            <a:spLocks noGrp="1"/>
          </p:cNvSpPr>
          <p:nvPr>
            <p:ph type="sldNum" sz="quarter" idx="12"/>
          </p:nvPr>
        </p:nvSpPr>
        <p:spPr/>
        <p:txBody>
          <a:bodyPr/>
          <a:lstStyle/>
          <a:p>
            <a:fld id="{CB120183-323D-4290-A749-445A20B72F78}" type="slidenum">
              <a:rPr lang="en-IN" smtClean="0"/>
              <a:t>‹#›</a:t>
            </a:fld>
            <a:endParaRPr lang="en-IN"/>
          </a:p>
        </p:txBody>
      </p:sp>
    </p:spTree>
    <p:extLst>
      <p:ext uri="{BB962C8B-B14F-4D97-AF65-F5344CB8AC3E}">
        <p14:creationId xmlns:p14="http://schemas.microsoft.com/office/powerpoint/2010/main" val="247745594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A1469F0-1D80-4DBE-2F36-A94186018C0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3977C3D0-307B-A6B7-7507-9C30F0C3340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7B37FD4-1A91-85B5-F92A-94C38C3AF97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D221087-58FB-48B1-B678-32083D4FD7F9}" type="datetimeFigureOut">
              <a:rPr lang="en-IN" smtClean="0"/>
              <a:t>19-02-2026</a:t>
            </a:fld>
            <a:endParaRPr lang="en-IN"/>
          </a:p>
        </p:txBody>
      </p:sp>
      <p:sp>
        <p:nvSpPr>
          <p:cNvPr id="5" name="Footer Placeholder 4">
            <a:extLst>
              <a:ext uri="{FF2B5EF4-FFF2-40B4-BE49-F238E27FC236}">
                <a16:creationId xmlns:a16="http://schemas.microsoft.com/office/drawing/2014/main" id="{6154F476-73FA-65C2-C542-74FB88F54A7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80A8B86F-E3F9-72BD-107D-164B4B4391F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B120183-323D-4290-A749-445A20B72F78}" type="slidenum">
              <a:rPr lang="en-IN" smtClean="0"/>
              <a:t>‹#›</a:t>
            </a:fld>
            <a:endParaRPr lang="en-IN"/>
          </a:p>
        </p:txBody>
      </p:sp>
    </p:spTree>
    <p:extLst>
      <p:ext uri="{BB962C8B-B14F-4D97-AF65-F5344CB8AC3E}">
        <p14:creationId xmlns:p14="http://schemas.microsoft.com/office/powerpoint/2010/main" val="279644860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3C8B4D-D747-892C-40DA-6901BCD3A348}"/>
              </a:ext>
            </a:extLst>
          </p:cNvPr>
          <p:cNvSpPr>
            <a:spLocks noGrp="1"/>
          </p:cNvSpPr>
          <p:nvPr>
            <p:ph type="ctrTitle"/>
          </p:nvPr>
        </p:nvSpPr>
        <p:spPr>
          <a:xfrm>
            <a:off x="1524000" y="4121727"/>
            <a:ext cx="9144000" cy="1764791"/>
          </a:xfrm>
        </p:spPr>
        <p:txBody>
          <a:bodyPr>
            <a:normAutofit fontScale="90000"/>
          </a:bodyPr>
          <a:lstStyle/>
          <a:p>
            <a:r>
              <a:rPr lang="en-IN" b="1" u="sng" dirty="0">
                <a:solidFill>
                  <a:schemeClr val="bg1">
                    <a:lumMod val="50000"/>
                  </a:schemeClr>
                </a:solidFill>
                <a:latin typeface="Segoe UI Black" panose="020B0A02040204020203" pitchFamily="34" charset="0"/>
                <a:ea typeface="Segoe UI Black" panose="020B0A02040204020203" pitchFamily="34" charset="0"/>
              </a:rPr>
              <a:t>AirPure Innovation</a:t>
            </a:r>
            <a:br>
              <a:rPr lang="en-IN" b="1" u="sng" dirty="0">
                <a:solidFill>
                  <a:schemeClr val="bg1">
                    <a:lumMod val="50000"/>
                  </a:schemeClr>
                </a:solidFill>
                <a:latin typeface="Segoe UI Black" panose="020B0A02040204020203" pitchFamily="34" charset="0"/>
                <a:ea typeface="Segoe UI Black" panose="020B0A02040204020203" pitchFamily="34" charset="0"/>
              </a:rPr>
            </a:br>
            <a:r>
              <a:rPr lang="en-IN" b="1" u="sng" dirty="0">
                <a:solidFill>
                  <a:schemeClr val="bg1">
                    <a:lumMod val="50000"/>
                  </a:schemeClr>
                </a:solidFill>
                <a:latin typeface="Segoe UI Black" panose="020B0A02040204020203" pitchFamily="34" charset="0"/>
                <a:ea typeface="Segoe UI Black" panose="020B0A02040204020203" pitchFamily="34" charset="0"/>
              </a:rPr>
              <a:t>Product Market Fit Analysis</a:t>
            </a:r>
          </a:p>
        </p:txBody>
      </p:sp>
      <p:pic>
        <p:nvPicPr>
          <p:cNvPr id="5" name="Picture 4">
            <a:extLst>
              <a:ext uri="{FF2B5EF4-FFF2-40B4-BE49-F238E27FC236}">
                <a16:creationId xmlns:a16="http://schemas.microsoft.com/office/drawing/2014/main" id="{409E11B5-7BEF-9DFA-5A59-786CFD73276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94326" y="295563"/>
            <a:ext cx="10510983" cy="3133437"/>
          </a:xfrm>
          <a:prstGeom prst="rect">
            <a:avLst/>
          </a:prstGeom>
          <a:scene3d>
            <a:camera prst="orthographicFront"/>
            <a:lightRig rig="threePt" dir="t"/>
          </a:scene3d>
          <a:sp3d>
            <a:bevelT w="165100" prst="coolSlant"/>
          </a:sp3d>
        </p:spPr>
      </p:pic>
    </p:spTree>
    <p:extLst>
      <p:ext uri="{BB962C8B-B14F-4D97-AF65-F5344CB8AC3E}">
        <p14:creationId xmlns:p14="http://schemas.microsoft.com/office/powerpoint/2010/main" val="23751388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7710BD-0D1B-A38A-45F3-F6C7C3141867}"/>
              </a:ext>
            </a:extLst>
          </p:cNvPr>
          <p:cNvSpPr>
            <a:spLocks noGrp="1"/>
          </p:cNvSpPr>
          <p:nvPr>
            <p:ph type="title"/>
          </p:nvPr>
        </p:nvSpPr>
        <p:spPr/>
        <p:txBody>
          <a:bodyPr/>
          <a:lstStyle/>
          <a:p>
            <a:pPr algn="ctr"/>
            <a:r>
              <a:rPr lang="en-IN" b="1" u="sng" dirty="0">
                <a:solidFill>
                  <a:schemeClr val="bg1">
                    <a:lumMod val="50000"/>
                  </a:schemeClr>
                </a:solidFill>
                <a:latin typeface="Segoe UI Black" panose="020B0A02040204020203" pitchFamily="34" charset="0"/>
                <a:ea typeface="Segoe UI Black" panose="020B0A02040204020203" pitchFamily="34" charset="0"/>
              </a:rPr>
              <a:t>Problem Statement</a:t>
            </a:r>
          </a:p>
        </p:txBody>
      </p:sp>
      <p:sp>
        <p:nvSpPr>
          <p:cNvPr id="3" name="Content Placeholder 2">
            <a:extLst>
              <a:ext uri="{FF2B5EF4-FFF2-40B4-BE49-F238E27FC236}">
                <a16:creationId xmlns:a16="http://schemas.microsoft.com/office/drawing/2014/main" id="{15A5E99B-56E6-291E-4781-1E0A64F805F2}"/>
              </a:ext>
            </a:extLst>
          </p:cNvPr>
          <p:cNvSpPr>
            <a:spLocks noGrp="1"/>
          </p:cNvSpPr>
          <p:nvPr>
            <p:ph idx="1"/>
          </p:nvPr>
        </p:nvSpPr>
        <p:spPr>
          <a:xfrm>
            <a:off x="838200" y="1825625"/>
            <a:ext cx="5023104" cy="4351338"/>
          </a:xfrm>
        </p:spPr>
        <p:txBody>
          <a:bodyPr>
            <a:normAutofit/>
          </a:bodyPr>
          <a:lstStyle/>
          <a:p>
            <a:r>
              <a:rPr lang="en-US" sz="2000" b="1" dirty="0" err="1">
                <a:latin typeface="Segoe UI Black" panose="020B0A02040204020203" pitchFamily="34" charset="0"/>
                <a:ea typeface="Segoe UI Black" panose="020B0A02040204020203" pitchFamily="34" charset="0"/>
              </a:rPr>
              <a:t>AirPure</a:t>
            </a:r>
            <a:r>
              <a:rPr lang="en-US" sz="2000" b="1" dirty="0">
                <a:latin typeface="Segoe UI Black" panose="020B0A02040204020203" pitchFamily="34" charset="0"/>
                <a:ea typeface="Segoe UI Black" panose="020B0A02040204020203" pitchFamily="34" charset="0"/>
              </a:rPr>
              <a:t> Innovations</a:t>
            </a:r>
            <a:r>
              <a:rPr lang="en-US" sz="2000" dirty="0">
                <a:latin typeface="Segoe UI Black" panose="020B0A02040204020203" pitchFamily="34" charset="0"/>
                <a:ea typeface="Segoe UI Black" panose="020B0A02040204020203" pitchFamily="34" charset="0"/>
              </a:rPr>
              <a:t> is a startup responding to India’s severe air pollution crisis, where 14 cities rank among the world’s top 20 most polluted. As the company prepares to develop its air purifier, it must validate market demand and define the right product strategy before investing in production and R&amp;D.</a:t>
            </a:r>
            <a:endParaRPr lang="en-IN" sz="2000" dirty="0">
              <a:latin typeface="Segoe UI Black" panose="020B0A02040204020203" pitchFamily="34" charset="0"/>
              <a:ea typeface="Segoe UI Black" panose="020B0A02040204020203" pitchFamily="34" charset="0"/>
            </a:endParaRPr>
          </a:p>
        </p:txBody>
      </p:sp>
      <p:sp>
        <p:nvSpPr>
          <p:cNvPr id="4" name="Content Placeholder 2">
            <a:extLst>
              <a:ext uri="{FF2B5EF4-FFF2-40B4-BE49-F238E27FC236}">
                <a16:creationId xmlns:a16="http://schemas.microsoft.com/office/drawing/2014/main" id="{BA49A4EC-1D54-195E-5A97-53EE3333A1AD}"/>
              </a:ext>
            </a:extLst>
          </p:cNvPr>
          <p:cNvSpPr txBox="1">
            <a:spLocks/>
          </p:cNvSpPr>
          <p:nvPr/>
        </p:nvSpPr>
        <p:spPr>
          <a:xfrm>
            <a:off x="6452246" y="1825625"/>
            <a:ext cx="5023104"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000" b="1" dirty="0">
                <a:latin typeface="Segoe UI Black" panose="020B0A02040204020203" pitchFamily="34" charset="0"/>
                <a:ea typeface="Segoe UI Black" panose="020B0A02040204020203" pitchFamily="34" charset="0"/>
              </a:rPr>
              <a:t>Key Questions to Address:</a:t>
            </a:r>
            <a:endParaRPr lang="en-US" sz="2000" dirty="0">
              <a:latin typeface="Segoe UI Black" panose="020B0A02040204020203" pitchFamily="34" charset="0"/>
              <a:ea typeface="Segoe UI Black" panose="020B0A02040204020203" pitchFamily="34" charset="0"/>
            </a:endParaRPr>
          </a:p>
          <a:p>
            <a:r>
              <a:rPr lang="en-US" sz="2000" dirty="0">
                <a:latin typeface="Segoe UI Black" panose="020B0A02040204020203" pitchFamily="34" charset="0"/>
                <a:ea typeface="Segoe UI Black" panose="020B0A02040204020203" pitchFamily="34" charset="0"/>
              </a:rPr>
              <a:t>Which pollutants should the purifier primarily target?</a:t>
            </a:r>
          </a:p>
          <a:p>
            <a:r>
              <a:rPr lang="en-US" sz="2000" dirty="0">
                <a:latin typeface="Segoe UI Black" panose="020B0A02040204020203" pitchFamily="34" charset="0"/>
                <a:ea typeface="Segoe UI Black" panose="020B0A02040204020203" pitchFamily="34" charset="0"/>
              </a:rPr>
              <a:t>What essential features are required to stay competitive?</a:t>
            </a:r>
          </a:p>
          <a:p>
            <a:r>
              <a:rPr lang="en-US" sz="2000" dirty="0">
                <a:latin typeface="Segoe UI Black" panose="020B0A02040204020203" pitchFamily="34" charset="0"/>
                <a:ea typeface="Segoe UI Black" panose="020B0A02040204020203" pitchFamily="34" charset="0"/>
              </a:rPr>
              <a:t>Which cities show the highest demand and market potential?</a:t>
            </a:r>
          </a:p>
          <a:p>
            <a:r>
              <a:rPr lang="en-US" sz="2000" dirty="0">
                <a:latin typeface="Segoe UI Black" panose="020B0A02040204020203" pitchFamily="34" charset="0"/>
                <a:ea typeface="Segoe UI Black" panose="020B0A02040204020203" pitchFamily="34" charset="0"/>
              </a:rPr>
              <a:t>How can R&amp;D align with localized pollution patterns?</a:t>
            </a:r>
          </a:p>
          <a:p>
            <a:endParaRPr lang="en-IN" sz="2000" dirty="0">
              <a:latin typeface="Segoe UI Black" panose="020B0A02040204020203" pitchFamily="34" charset="0"/>
              <a:ea typeface="Segoe UI Black" panose="020B0A02040204020203" pitchFamily="34" charset="0"/>
            </a:endParaRPr>
          </a:p>
        </p:txBody>
      </p:sp>
    </p:spTree>
    <p:extLst>
      <p:ext uri="{BB962C8B-B14F-4D97-AF65-F5344CB8AC3E}">
        <p14:creationId xmlns:p14="http://schemas.microsoft.com/office/powerpoint/2010/main" val="235039951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A883E8-6A54-EA5E-50C6-880FD8A92353}"/>
              </a:ext>
            </a:extLst>
          </p:cNvPr>
          <p:cNvSpPr>
            <a:spLocks noGrp="1"/>
          </p:cNvSpPr>
          <p:nvPr>
            <p:ph type="title"/>
          </p:nvPr>
        </p:nvSpPr>
        <p:spPr/>
        <p:txBody>
          <a:bodyPr/>
          <a:lstStyle/>
          <a:p>
            <a:pPr algn="ctr"/>
            <a:r>
              <a:rPr lang="en-IN" b="1" u="sng" dirty="0">
                <a:solidFill>
                  <a:schemeClr val="bg1">
                    <a:lumMod val="50000"/>
                  </a:schemeClr>
                </a:solidFill>
                <a:latin typeface="Segoe UI Black" panose="020B0A02040204020203" pitchFamily="34" charset="0"/>
                <a:ea typeface="Segoe UI Black" panose="020B0A02040204020203" pitchFamily="34" charset="0"/>
              </a:rPr>
              <a:t>Reports Created</a:t>
            </a:r>
          </a:p>
        </p:txBody>
      </p:sp>
      <p:sp>
        <p:nvSpPr>
          <p:cNvPr id="3" name="Content Placeholder 2">
            <a:extLst>
              <a:ext uri="{FF2B5EF4-FFF2-40B4-BE49-F238E27FC236}">
                <a16:creationId xmlns:a16="http://schemas.microsoft.com/office/drawing/2014/main" id="{65C761AF-91A4-E3DD-9E4D-658528A73448}"/>
              </a:ext>
            </a:extLst>
          </p:cNvPr>
          <p:cNvSpPr>
            <a:spLocks noGrp="1"/>
          </p:cNvSpPr>
          <p:nvPr>
            <p:ph idx="1"/>
          </p:nvPr>
        </p:nvSpPr>
        <p:spPr/>
        <p:txBody>
          <a:bodyPr>
            <a:normAutofit lnSpcReduction="10000"/>
          </a:bodyPr>
          <a:lstStyle/>
          <a:p>
            <a:pPr algn="ctr">
              <a:buFont typeface="Wingdings" panose="05000000000000000000" pitchFamily="2" charset="2"/>
              <a:buChar char="Ø"/>
            </a:pPr>
            <a:r>
              <a:rPr lang="en-IN" dirty="0">
                <a:latin typeface="Segoe UI Black" panose="020B0A02040204020203" pitchFamily="34" charset="0"/>
                <a:ea typeface="Segoe UI Black" panose="020B0A02040204020203" pitchFamily="34" charset="0"/>
              </a:rPr>
              <a:t>State-Area wise AQI Analysis(2022-2025)</a:t>
            </a:r>
          </a:p>
          <a:p>
            <a:pPr algn="ctr">
              <a:buFont typeface="Wingdings" panose="05000000000000000000" pitchFamily="2" charset="2"/>
              <a:buChar char="Ø"/>
            </a:pPr>
            <a:endParaRPr lang="en-IN" dirty="0">
              <a:latin typeface="Segoe UI Black" panose="020B0A02040204020203" pitchFamily="34" charset="0"/>
              <a:ea typeface="Segoe UI Black" panose="020B0A02040204020203" pitchFamily="34" charset="0"/>
            </a:endParaRPr>
          </a:p>
          <a:p>
            <a:pPr algn="ctr">
              <a:buFont typeface="Wingdings" panose="05000000000000000000" pitchFamily="2" charset="2"/>
              <a:buChar char="Ø"/>
            </a:pPr>
            <a:r>
              <a:rPr lang="en-IN" dirty="0">
                <a:latin typeface="Segoe UI Black" panose="020B0A02040204020203" pitchFamily="34" charset="0"/>
                <a:ea typeface="Segoe UI Black" panose="020B0A02040204020203" pitchFamily="34" charset="0"/>
              </a:rPr>
              <a:t>Health Criteria Analysis</a:t>
            </a:r>
          </a:p>
          <a:p>
            <a:pPr algn="ctr">
              <a:buFont typeface="Wingdings" panose="05000000000000000000" pitchFamily="2" charset="2"/>
              <a:buChar char="Ø"/>
            </a:pPr>
            <a:endParaRPr lang="en-IN" dirty="0">
              <a:latin typeface="Segoe UI Black" panose="020B0A02040204020203" pitchFamily="34" charset="0"/>
              <a:ea typeface="Segoe UI Black" panose="020B0A02040204020203" pitchFamily="34" charset="0"/>
            </a:endParaRPr>
          </a:p>
          <a:p>
            <a:pPr algn="ctr">
              <a:buFont typeface="Wingdings" panose="05000000000000000000" pitchFamily="2" charset="2"/>
              <a:buChar char="Ø"/>
            </a:pPr>
            <a:r>
              <a:rPr lang="en-IN" dirty="0">
                <a:latin typeface="Segoe UI Black" panose="020B0A02040204020203" pitchFamily="34" charset="0"/>
                <a:ea typeface="Segoe UI Black" panose="020B0A02040204020203" pitchFamily="34" charset="0"/>
              </a:rPr>
              <a:t>EV Vehicle Analysis</a:t>
            </a:r>
          </a:p>
          <a:p>
            <a:pPr algn="ctr">
              <a:buFont typeface="Wingdings" panose="05000000000000000000" pitchFamily="2" charset="2"/>
              <a:buChar char="Ø"/>
            </a:pPr>
            <a:endParaRPr lang="en-IN" dirty="0">
              <a:latin typeface="Segoe UI Black" panose="020B0A02040204020203" pitchFamily="34" charset="0"/>
              <a:ea typeface="Segoe UI Black" panose="020B0A02040204020203" pitchFamily="34" charset="0"/>
            </a:endParaRPr>
          </a:p>
          <a:p>
            <a:pPr algn="ctr">
              <a:buFont typeface="Wingdings" panose="05000000000000000000" pitchFamily="2" charset="2"/>
              <a:buChar char="Ø"/>
            </a:pPr>
            <a:r>
              <a:rPr lang="en-IN" dirty="0">
                <a:latin typeface="Segoe UI Black" panose="020B0A02040204020203" pitchFamily="34" charset="0"/>
                <a:ea typeface="Segoe UI Black" panose="020B0A02040204020203" pitchFamily="34" charset="0"/>
              </a:rPr>
              <a:t>Competitor Analysis</a:t>
            </a:r>
          </a:p>
          <a:p>
            <a:pPr algn="ctr">
              <a:buFont typeface="Wingdings" panose="05000000000000000000" pitchFamily="2" charset="2"/>
              <a:buChar char="Ø"/>
            </a:pPr>
            <a:endParaRPr lang="en-IN" dirty="0">
              <a:latin typeface="Segoe UI Black" panose="020B0A02040204020203" pitchFamily="34" charset="0"/>
              <a:ea typeface="Segoe UI Black" panose="020B0A02040204020203" pitchFamily="34" charset="0"/>
            </a:endParaRPr>
          </a:p>
          <a:p>
            <a:pPr algn="ctr">
              <a:buFont typeface="Wingdings" panose="05000000000000000000" pitchFamily="2" charset="2"/>
              <a:buChar char="Ø"/>
            </a:pPr>
            <a:r>
              <a:rPr lang="en-IN" dirty="0">
                <a:latin typeface="Segoe UI Black" panose="020B0A02040204020203" pitchFamily="34" charset="0"/>
                <a:ea typeface="Segoe UI Black" panose="020B0A02040204020203" pitchFamily="34" charset="0"/>
              </a:rPr>
              <a:t>Market Analysis</a:t>
            </a:r>
          </a:p>
        </p:txBody>
      </p:sp>
    </p:spTree>
    <p:extLst>
      <p:ext uri="{BB962C8B-B14F-4D97-AF65-F5344CB8AC3E}">
        <p14:creationId xmlns:p14="http://schemas.microsoft.com/office/powerpoint/2010/main" val="64261498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24E3B0-1F6D-DBD4-91D1-2071813EE6C1}"/>
              </a:ext>
            </a:extLst>
          </p:cNvPr>
          <p:cNvSpPr>
            <a:spLocks noGrp="1"/>
          </p:cNvSpPr>
          <p:nvPr>
            <p:ph type="title"/>
          </p:nvPr>
        </p:nvSpPr>
        <p:spPr>
          <a:xfrm>
            <a:off x="3048000" y="319682"/>
            <a:ext cx="7250546" cy="1325563"/>
          </a:xfrm>
        </p:spPr>
        <p:txBody>
          <a:bodyPr/>
          <a:lstStyle/>
          <a:p>
            <a:pPr algn="ctr"/>
            <a:r>
              <a:rPr lang="en-IN" b="1" u="sng" dirty="0">
                <a:solidFill>
                  <a:schemeClr val="bg1">
                    <a:lumMod val="50000"/>
                  </a:schemeClr>
                </a:solidFill>
                <a:latin typeface="Segoe UI Black" panose="020B0A02040204020203" pitchFamily="34" charset="0"/>
                <a:ea typeface="Segoe UI Black" panose="020B0A02040204020203" pitchFamily="34" charset="0"/>
              </a:rPr>
              <a:t>State - Area Wise Analysis</a:t>
            </a:r>
          </a:p>
        </p:txBody>
      </p:sp>
      <p:sp>
        <p:nvSpPr>
          <p:cNvPr id="11" name="Rectangle 6">
            <a:extLst>
              <a:ext uri="{FF2B5EF4-FFF2-40B4-BE49-F238E27FC236}">
                <a16:creationId xmlns:a16="http://schemas.microsoft.com/office/drawing/2014/main" id="{045FD29A-7611-AC88-4D6A-D92CB918B00A}"/>
              </a:ext>
            </a:extLst>
          </p:cNvPr>
          <p:cNvSpPr>
            <a:spLocks noGrp="1" noChangeArrowheads="1"/>
          </p:cNvSpPr>
          <p:nvPr>
            <p:ph idx="1"/>
          </p:nvPr>
        </p:nvSpPr>
        <p:spPr bwMode="auto">
          <a:xfrm>
            <a:off x="230910" y="1492917"/>
            <a:ext cx="6253017" cy="50167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eaLnBrk="0" fontAlgn="base" hangingPunct="0">
              <a:lnSpc>
                <a:spcPct val="100000"/>
              </a:lnSpc>
              <a:spcBef>
                <a:spcPct val="0"/>
              </a:spcBef>
              <a:spcAft>
                <a:spcPct val="0"/>
              </a:spcAft>
              <a:buFont typeface="Wingdings" panose="05000000000000000000" pitchFamily="2" charset="2"/>
              <a:buChar char="Ø"/>
            </a:pPr>
            <a:r>
              <a:rPr kumimoji="0" lang="en-US" altLang="en-US" sz="1600" i="0" u="none" strike="noStrike" cap="none" normalizeH="0" baseline="0" dirty="0">
                <a:ln>
                  <a:noFill/>
                </a:ln>
                <a:solidFill>
                  <a:schemeClr val="tx1"/>
                </a:solidFill>
                <a:effectLst/>
                <a:latin typeface="Segoe UI Black" panose="020B0A02040204020203" pitchFamily="34" charset="0"/>
                <a:ea typeface="Segoe UI Black" panose="020B0A02040204020203" pitchFamily="34" charset="0"/>
              </a:rPr>
              <a:t>Launch initially in high-AQI cities:</a:t>
            </a:r>
            <a:br>
              <a:rPr kumimoji="0" lang="en-US" altLang="en-US" sz="1600" i="0" u="none" strike="noStrike" cap="none" normalizeH="0" baseline="0" dirty="0">
                <a:ln>
                  <a:noFill/>
                </a:ln>
                <a:solidFill>
                  <a:schemeClr val="tx1"/>
                </a:solidFill>
                <a:effectLst/>
                <a:latin typeface="Segoe UI Black" panose="020B0A02040204020203" pitchFamily="34" charset="0"/>
                <a:ea typeface="Segoe UI Black" panose="020B0A02040204020203" pitchFamily="34" charset="0"/>
              </a:rPr>
            </a:br>
            <a:r>
              <a:rPr kumimoji="0" lang="en-US" altLang="en-US" sz="1600" i="0" u="none" strike="noStrike" cap="none" normalizeH="0" baseline="0" dirty="0">
                <a:ln>
                  <a:noFill/>
                </a:ln>
                <a:solidFill>
                  <a:schemeClr val="tx1"/>
                </a:solidFill>
                <a:effectLst/>
                <a:latin typeface="Segoe UI Black" panose="020B0A02040204020203" pitchFamily="34" charset="0"/>
                <a:ea typeface="Segoe UI Black" panose="020B0A02040204020203" pitchFamily="34" charset="0"/>
              </a:rPr>
              <a:t>Byrnihat, Delhi, Hajipur, Gurugram, Panchkula.</a:t>
            </a:r>
          </a:p>
          <a:p>
            <a:pPr eaLnBrk="0" fontAlgn="base" hangingPunct="0">
              <a:lnSpc>
                <a:spcPct val="100000"/>
              </a:lnSpc>
              <a:spcBef>
                <a:spcPct val="0"/>
              </a:spcBef>
              <a:spcAft>
                <a:spcPct val="0"/>
              </a:spcAft>
              <a:buFont typeface="Wingdings" panose="05000000000000000000" pitchFamily="2" charset="2"/>
              <a:buChar char="Ø"/>
            </a:pPr>
            <a:endParaRPr kumimoji="0" lang="en-US" altLang="en-US" sz="1600" i="0" u="none" strike="noStrike" cap="none" normalizeH="0" baseline="0" dirty="0">
              <a:ln>
                <a:noFill/>
              </a:ln>
              <a:solidFill>
                <a:schemeClr val="tx1"/>
              </a:solidFill>
              <a:effectLst/>
              <a:latin typeface="Segoe UI Black" panose="020B0A02040204020203" pitchFamily="34" charset="0"/>
              <a:ea typeface="Segoe UI Black" panose="020B0A02040204020203" pitchFamily="34" charset="0"/>
            </a:endParaRPr>
          </a:p>
          <a:p>
            <a:pPr eaLnBrk="0" fontAlgn="base" hangingPunct="0">
              <a:lnSpc>
                <a:spcPct val="100000"/>
              </a:lnSpc>
              <a:spcBef>
                <a:spcPct val="0"/>
              </a:spcBef>
              <a:spcAft>
                <a:spcPct val="0"/>
              </a:spcAft>
              <a:buFont typeface="Wingdings" panose="05000000000000000000" pitchFamily="2" charset="2"/>
              <a:buChar char="Ø"/>
            </a:pPr>
            <a:r>
              <a:rPr kumimoji="0" lang="en-US" altLang="en-US" sz="1600" i="0" u="none" strike="noStrike" cap="none" normalizeH="0" baseline="0" dirty="0">
                <a:ln>
                  <a:noFill/>
                </a:ln>
                <a:solidFill>
                  <a:schemeClr val="tx1"/>
                </a:solidFill>
                <a:effectLst/>
                <a:latin typeface="Segoe UI Black" panose="020B0A02040204020203" pitchFamily="34" charset="0"/>
                <a:ea typeface="Segoe UI Black" panose="020B0A02040204020203" pitchFamily="34" charset="0"/>
              </a:rPr>
              <a:t>Recognize that pollution severity is high in both metro and non-metro cities.</a:t>
            </a:r>
          </a:p>
          <a:p>
            <a:pPr eaLnBrk="0" fontAlgn="base" hangingPunct="0">
              <a:lnSpc>
                <a:spcPct val="100000"/>
              </a:lnSpc>
              <a:spcBef>
                <a:spcPct val="0"/>
              </a:spcBef>
              <a:spcAft>
                <a:spcPct val="0"/>
              </a:spcAft>
              <a:buFont typeface="Wingdings" panose="05000000000000000000" pitchFamily="2" charset="2"/>
              <a:buChar char="Ø"/>
            </a:pPr>
            <a:endParaRPr kumimoji="0" lang="en-US" altLang="en-US" sz="1600" i="0" u="none" strike="noStrike" cap="none" normalizeH="0" baseline="0" dirty="0">
              <a:ln>
                <a:noFill/>
              </a:ln>
              <a:solidFill>
                <a:schemeClr val="tx1"/>
              </a:solidFill>
              <a:effectLst/>
              <a:latin typeface="Segoe UI Black" panose="020B0A02040204020203" pitchFamily="34" charset="0"/>
              <a:ea typeface="Segoe UI Black" panose="020B0A02040204020203" pitchFamily="34" charset="0"/>
            </a:endParaRP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lang="en-US" altLang="en-US" sz="1600" dirty="0">
                <a:latin typeface="Segoe UI Black" panose="020B0A02040204020203" pitchFamily="34" charset="0"/>
                <a:ea typeface="Segoe UI Black" panose="020B0A02040204020203" pitchFamily="34" charset="0"/>
              </a:rPr>
              <a:t> </a:t>
            </a:r>
            <a:r>
              <a:rPr kumimoji="0" lang="en-US" altLang="en-US" sz="1600" i="0" u="none" strike="noStrike" cap="none" normalizeH="0" baseline="0" dirty="0">
                <a:ln>
                  <a:noFill/>
                </a:ln>
                <a:solidFill>
                  <a:schemeClr val="tx1"/>
                </a:solidFill>
                <a:effectLst/>
                <a:latin typeface="Segoe UI Black" panose="020B0A02040204020203" pitchFamily="34" charset="0"/>
                <a:ea typeface="Segoe UI Black" panose="020B0A02040204020203" pitchFamily="34" charset="0"/>
              </a:rPr>
              <a:t>Focus core filtration technology on PM2.5 and PM10, as they are the most dominant pollutants across regions.</a:t>
            </a: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endParaRPr kumimoji="0" lang="en-US" altLang="en-US" sz="1600" i="0" u="none" strike="noStrike" cap="none" normalizeH="0" baseline="0" dirty="0">
              <a:ln>
                <a:noFill/>
              </a:ln>
              <a:solidFill>
                <a:schemeClr val="tx1"/>
              </a:solidFill>
              <a:effectLst/>
              <a:latin typeface="Segoe UI Black" panose="020B0A02040204020203" pitchFamily="34" charset="0"/>
              <a:ea typeface="Segoe UI Black" panose="020B0A02040204020203" pitchFamily="34" charset="0"/>
            </a:endParaRP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1600" i="0" u="none" strike="noStrike" cap="none" normalizeH="0" baseline="0" dirty="0">
                <a:ln>
                  <a:noFill/>
                </a:ln>
                <a:solidFill>
                  <a:schemeClr val="tx1"/>
                </a:solidFill>
                <a:effectLst/>
                <a:latin typeface="Segoe UI Black" panose="020B0A02040204020203" pitchFamily="34" charset="0"/>
                <a:ea typeface="Segoe UI Black" panose="020B0A02040204020203" pitchFamily="34" charset="0"/>
              </a:rPr>
              <a:t>Make HEPA-grade filtration mandatory to ensure strong particulate removal performance.</a:t>
            </a: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endParaRPr kumimoji="0" lang="en-US" altLang="en-US" sz="1600" i="0" u="none" strike="noStrike" cap="none" normalizeH="0" baseline="0" dirty="0">
              <a:ln>
                <a:noFill/>
              </a:ln>
              <a:solidFill>
                <a:schemeClr val="tx1"/>
              </a:solidFill>
              <a:effectLst/>
              <a:latin typeface="Segoe UI Black" panose="020B0A02040204020203" pitchFamily="34" charset="0"/>
              <a:ea typeface="Segoe UI Black" panose="020B0A02040204020203" pitchFamily="34" charset="0"/>
            </a:endParaRP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1600" i="0" u="none" strike="noStrike" cap="none" normalizeH="0" baseline="0" dirty="0">
                <a:ln>
                  <a:noFill/>
                </a:ln>
                <a:solidFill>
                  <a:schemeClr val="tx1"/>
                </a:solidFill>
                <a:effectLst/>
                <a:latin typeface="Segoe UI Black" panose="020B0A02040204020203" pitchFamily="34" charset="0"/>
                <a:ea typeface="Segoe UI Black" panose="020B0A02040204020203" pitchFamily="34" charset="0"/>
              </a:rPr>
              <a:t>Highlight high particulate removal efficiency clearly in marketing communication.</a:t>
            </a: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endParaRPr kumimoji="0" lang="en-US" altLang="en-US" sz="1600" i="0" u="none" strike="noStrike" cap="none" normalizeH="0" baseline="0" dirty="0">
              <a:ln>
                <a:noFill/>
              </a:ln>
              <a:solidFill>
                <a:schemeClr val="tx1"/>
              </a:solidFill>
              <a:effectLst/>
              <a:latin typeface="Segoe UI Black" panose="020B0A02040204020203" pitchFamily="34" charset="0"/>
              <a:ea typeface="Segoe UI Black" panose="020B0A02040204020203" pitchFamily="34" charset="0"/>
            </a:endParaRP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1600" i="0" u="none" strike="noStrike" cap="none" normalizeH="0" baseline="0" dirty="0">
                <a:ln>
                  <a:noFill/>
                </a:ln>
                <a:solidFill>
                  <a:schemeClr val="tx1"/>
                </a:solidFill>
                <a:effectLst/>
                <a:latin typeface="Segoe UI Black" panose="020B0A02040204020203" pitchFamily="34" charset="0"/>
                <a:ea typeface="Segoe UI Black" panose="020B0A02040204020203" pitchFamily="34" charset="0"/>
              </a:rPr>
              <a:t>Intensify promotions during peak pollution months :- October to January.</a:t>
            </a: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endParaRPr kumimoji="0" lang="en-US" altLang="en-US" sz="1600" i="0" u="none" strike="noStrike" cap="none" normalizeH="0" baseline="0" dirty="0">
              <a:ln>
                <a:noFill/>
              </a:ln>
              <a:solidFill>
                <a:schemeClr val="tx1"/>
              </a:solidFill>
              <a:effectLst/>
              <a:latin typeface="Segoe UI Black" panose="020B0A02040204020203" pitchFamily="34" charset="0"/>
              <a:ea typeface="Segoe UI Black" panose="020B0A02040204020203" pitchFamily="34" charset="0"/>
            </a:endParaRP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1600" i="0" u="none" strike="noStrike" cap="none" normalizeH="0" baseline="0" dirty="0">
                <a:ln>
                  <a:noFill/>
                </a:ln>
                <a:solidFill>
                  <a:schemeClr val="tx1"/>
                </a:solidFill>
                <a:effectLst/>
                <a:latin typeface="Segoe UI Black" panose="020B0A02040204020203" pitchFamily="34" charset="0"/>
                <a:ea typeface="Segoe UI Black" panose="020B0A02040204020203" pitchFamily="34" charset="0"/>
              </a:rPr>
              <a:t>Align city targeting, seasonal campaigns, and particulate-focused filtration for strong market entry success.</a:t>
            </a:r>
          </a:p>
        </p:txBody>
      </p:sp>
      <p:pic>
        <p:nvPicPr>
          <p:cNvPr id="13" name="Picture 12">
            <a:extLst>
              <a:ext uri="{FF2B5EF4-FFF2-40B4-BE49-F238E27FC236}">
                <a16:creationId xmlns:a16="http://schemas.microsoft.com/office/drawing/2014/main" id="{BF99DB30-BCB8-ECAD-3E63-629722F11299}"/>
              </a:ext>
            </a:extLst>
          </p:cNvPr>
          <p:cNvPicPr>
            <a:picLocks noChangeAspect="1"/>
          </p:cNvPicPr>
          <p:nvPr/>
        </p:nvPicPr>
        <p:blipFill>
          <a:blip r:embed="rId2"/>
          <a:stretch>
            <a:fillRect/>
          </a:stretch>
        </p:blipFill>
        <p:spPr>
          <a:xfrm>
            <a:off x="6483927" y="1744721"/>
            <a:ext cx="5486399" cy="1869119"/>
          </a:xfrm>
          <a:prstGeom prst="rect">
            <a:avLst/>
          </a:prstGeom>
        </p:spPr>
      </p:pic>
      <p:pic>
        <p:nvPicPr>
          <p:cNvPr id="12" name="Picture 11">
            <a:extLst>
              <a:ext uri="{FF2B5EF4-FFF2-40B4-BE49-F238E27FC236}">
                <a16:creationId xmlns:a16="http://schemas.microsoft.com/office/drawing/2014/main" id="{25140238-FD7C-2623-B672-7F172A785D36}"/>
              </a:ext>
            </a:extLst>
          </p:cNvPr>
          <p:cNvPicPr>
            <a:picLocks noChangeAspect="1"/>
          </p:cNvPicPr>
          <p:nvPr/>
        </p:nvPicPr>
        <p:blipFill>
          <a:blip r:embed="rId3"/>
          <a:stretch>
            <a:fillRect/>
          </a:stretch>
        </p:blipFill>
        <p:spPr>
          <a:xfrm>
            <a:off x="6885261" y="3758349"/>
            <a:ext cx="1953436" cy="2751326"/>
          </a:xfrm>
          <a:prstGeom prst="rect">
            <a:avLst/>
          </a:prstGeom>
        </p:spPr>
      </p:pic>
      <p:pic>
        <p:nvPicPr>
          <p:cNvPr id="14" name="Picture 13">
            <a:extLst>
              <a:ext uri="{FF2B5EF4-FFF2-40B4-BE49-F238E27FC236}">
                <a16:creationId xmlns:a16="http://schemas.microsoft.com/office/drawing/2014/main" id="{D651B884-FE3C-2E0A-44F7-3D583676A3A3}"/>
              </a:ext>
            </a:extLst>
          </p:cNvPr>
          <p:cNvPicPr>
            <a:picLocks noChangeAspect="1"/>
          </p:cNvPicPr>
          <p:nvPr/>
        </p:nvPicPr>
        <p:blipFill>
          <a:blip r:embed="rId4"/>
          <a:stretch>
            <a:fillRect/>
          </a:stretch>
        </p:blipFill>
        <p:spPr>
          <a:xfrm>
            <a:off x="9323159" y="3806116"/>
            <a:ext cx="2152073" cy="2655792"/>
          </a:xfrm>
          <a:prstGeom prst="rect">
            <a:avLst/>
          </a:prstGeom>
        </p:spPr>
      </p:pic>
      <p:pic>
        <p:nvPicPr>
          <p:cNvPr id="15" name="Picture 14">
            <a:extLst>
              <a:ext uri="{FF2B5EF4-FFF2-40B4-BE49-F238E27FC236}">
                <a16:creationId xmlns:a16="http://schemas.microsoft.com/office/drawing/2014/main" id="{1D06173B-9CD8-217C-9028-30F36EA8BCD9}"/>
              </a:ext>
            </a:extLst>
          </p:cNvPr>
          <p:cNvPicPr>
            <a:picLocks noChangeAspect="1"/>
          </p:cNvPicPr>
          <p:nvPr/>
        </p:nvPicPr>
        <p:blipFill>
          <a:blip r:embed="rId5"/>
          <a:srcRect l="12395" t="19977" r="75356" b="71938"/>
          <a:stretch>
            <a:fillRect/>
          </a:stretch>
        </p:blipFill>
        <p:spPr>
          <a:xfrm>
            <a:off x="230910" y="101601"/>
            <a:ext cx="2632363" cy="1006764"/>
          </a:xfrm>
          <a:prstGeom prst="rect">
            <a:avLst/>
          </a:prstGeom>
        </p:spPr>
      </p:pic>
    </p:spTree>
    <p:extLst>
      <p:ext uri="{BB962C8B-B14F-4D97-AF65-F5344CB8AC3E}">
        <p14:creationId xmlns:p14="http://schemas.microsoft.com/office/powerpoint/2010/main" val="328397175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FB9B33-8910-2B27-C50E-C97A97BA0B91}"/>
              </a:ext>
            </a:extLst>
          </p:cNvPr>
          <p:cNvSpPr>
            <a:spLocks noGrp="1"/>
          </p:cNvSpPr>
          <p:nvPr>
            <p:ph type="title"/>
          </p:nvPr>
        </p:nvSpPr>
        <p:spPr>
          <a:xfrm>
            <a:off x="838200" y="365126"/>
            <a:ext cx="6199909" cy="1029566"/>
          </a:xfrm>
        </p:spPr>
        <p:txBody>
          <a:bodyPr/>
          <a:lstStyle/>
          <a:p>
            <a:r>
              <a:rPr lang="en-IN" b="1" u="sng" dirty="0">
                <a:solidFill>
                  <a:schemeClr val="bg1">
                    <a:lumMod val="50000"/>
                  </a:schemeClr>
                </a:solidFill>
                <a:latin typeface="Segoe UI Black" panose="020B0A02040204020203" pitchFamily="34" charset="0"/>
                <a:ea typeface="Segoe UI Black" panose="020B0A02040204020203" pitchFamily="34" charset="0"/>
              </a:rPr>
              <a:t>Health Analysis</a:t>
            </a:r>
          </a:p>
        </p:txBody>
      </p:sp>
      <p:sp>
        <p:nvSpPr>
          <p:cNvPr id="4" name="Rectangle 1">
            <a:extLst>
              <a:ext uri="{FF2B5EF4-FFF2-40B4-BE49-F238E27FC236}">
                <a16:creationId xmlns:a16="http://schemas.microsoft.com/office/drawing/2014/main" id="{AE17209D-F222-B9A9-47A0-5F165781B599}"/>
              </a:ext>
            </a:extLst>
          </p:cNvPr>
          <p:cNvSpPr>
            <a:spLocks noGrp="1" noChangeArrowheads="1"/>
          </p:cNvSpPr>
          <p:nvPr>
            <p:ph idx="1"/>
          </p:nvPr>
        </p:nvSpPr>
        <p:spPr bwMode="auto">
          <a:xfrm>
            <a:off x="838200" y="1616029"/>
            <a:ext cx="6522137" cy="47705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1600" i="0" u="none" strike="noStrike" cap="none" normalizeH="0" baseline="0" dirty="0">
                <a:ln>
                  <a:noFill/>
                </a:ln>
                <a:solidFill>
                  <a:schemeClr val="tx1"/>
                </a:solidFill>
                <a:effectLst/>
                <a:latin typeface="Segoe UI Black" panose="020B0A02040204020203" pitchFamily="34" charset="0"/>
                <a:ea typeface="Segoe UI Black" panose="020B0A02040204020203" pitchFamily="34" charset="0"/>
              </a:rPr>
              <a:t>Air quality levels show no major difference between metro and non-metro cities, with satisfactory and moderate categories dominating.</a:t>
            </a: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endParaRPr kumimoji="0" lang="en-US" altLang="en-US" sz="1600" i="0" u="none" strike="noStrike" cap="none" normalizeH="0" baseline="0" dirty="0">
              <a:ln>
                <a:noFill/>
              </a:ln>
              <a:solidFill>
                <a:schemeClr val="tx1"/>
              </a:solidFill>
              <a:effectLst/>
              <a:latin typeface="Segoe UI Black" panose="020B0A02040204020203" pitchFamily="34" charset="0"/>
              <a:ea typeface="Segoe UI Black" panose="020B0A02040204020203" pitchFamily="34" charset="0"/>
            </a:endParaRP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1600" i="0" u="none" strike="noStrike" cap="none" normalizeH="0" baseline="0" dirty="0">
                <a:ln>
                  <a:noFill/>
                </a:ln>
                <a:solidFill>
                  <a:schemeClr val="tx1"/>
                </a:solidFill>
                <a:effectLst/>
                <a:latin typeface="Segoe UI Black" panose="020B0A02040204020203" pitchFamily="34" charset="0"/>
                <a:ea typeface="Segoe UI Black" panose="020B0A02040204020203" pitchFamily="34" charset="0"/>
              </a:rPr>
              <a:t>Key pollutants across regions are PM2.5, PM10, CO, O3, and NO2, requiring strong particulate and gas filtration focus.</a:t>
            </a: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endParaRPr kumimoji="0" lang="en-US" altLang="en-US" sz="1600" i="0" u="none" strike="noStrike" cap="none" normalizeH="0" baseline="0" dirty="0">
              <a:ln>
                <a:noFill/>
              </a:ln>
              <a:solidFill>
                <a:schemeClr val="tx1"/>
              </a:solidFill>
              <a:effectLst/>
              <a:latin typeface="Segoe UI Black" panose="020B0A02040204020203" pitchFamily="34" charset="0"/>
              <a:ea typeface="Segoe UI Black" panose="020B0A02040204020203" pitchFamily="34" charset="0"/>
            </a:endParaRP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1600" i="0" u="none" strike="noStrike" cap="none" normalizeH="0" baseline="0" dirty="0">
                <a:ln>
                  <a:noFill/>
                </a:ln>
                <a:solidFill>
                  <a:schemeClr val="tx1"/>
                </a:solidFill>
                <a:effectLst/>
                <a:latin typeface="Segoe UI Black" panose="020B0A02040204020203" pitchFamily="34" charset="0"/>
                <a:ea typeface="Segoe UI Black" panose="020B0A02040204020203" pitchFamily="34" charset="0"/>
              </a:rPr>
              <a:t>High-priority markets include Bengaluru, Hyderabad, Delhi, Mumbai and states like Kerala, Gujarat, Odisha, Madhya Pradesh, Chhattisgarh(Because of the high cases in this region).</a:t>
            </a: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endParaRPr kumimoji="0" lang="en-US" altLang="en-US" sz="1600" i="0" u="none" strike="noStrike" cap="none" normalizeH="0" baseline="0" dirty="0">
              <a:ln>
                <a:noFill/>
              </a:ln>
              <a:solidFill>
                <a:schemeClr val="tx1"/>
              </a:solidFill>
              <a:effectLst/>
              <a:latin typeface="Segoe UI Black" panose="020B0A02040204020203" pitchFamily="34" charset="0"/>
              <a:ea typeface="Segoe UI Black" panose="020B0A02040204020203" pitchFamily="34" charset="0"/>
            </a:endParaRP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1600" i="0" u="none" strike="noStrike" cap="none" normalizeH="0" baseline="0" dirty="0">
                <a:ln>
                  <a:noFill/>
                </a:ln>
                <a:solidFill>
                  <a:schemeClr val="tx1"/>
                </a:solidFill>
                <a:effectLst/>
                <a:latin typeface="Segoe UI Black" panose="020B0A02040204020203" pitchFamily="34" charset="0"/>
                <a:ea typeface="Segoe UI Black" panose="020B0A02040204020203" pitchFamily="34" charset="0"/>
              </a:rPr>
              <a:t>Health risk index remains significant in both metro and non-metro regions, with recurring disease burden indicating sustained health vulnerability.</a:t>
            </a: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endParaRPr kumimoji="0" lang="en-US" altLang="en-US" sz="1600" i="0" u="none" strike="noStrike" cap="none" normalizeH="0" baseline="0" dirty="0">
              <a:ln>
                <a:noFill/>
              </a:ln>
              <a:solidFill>
                <a:schemeClr val="tx1"/>
              </a:solidFill>
              <a:effectLst/>
              <a:latin typeface="Segoe UI Black" panose="020B0A02040204020203" pitchFamily="34" charset="0"/>
              <a:ea typeface="Segoe UI Black" panose="020B0A02040204020203" pitchFamily="34" charset="0"/>
            </a:endParaRP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1600" i="0" u="none" strike="noStrike" cap="none" normalizeH="0" baseline="0" dirty="0">
                <a:ln>
                  <a:noFill/>
                </a:ln>
                <a:solidFill>
                  <a:schemeClr val="tx1"/>
                </a:solidFill>
                <a:effectLst/>
                <a:latin typeface="Segoe UI Black" panose="020B0A02040204020203" pitchFamily="34" charset="0"/>
                <a:ea typeface="Segoe UI Black" panose="020B0A02040204020203" pitchFamily="34" charset="0"/>
              </a:rPr>
              <a:t>AQI peaks in Quarter 1 from the past three years(2023-2025), making early-year marketing and product positioning critical for demand capture.</a:t>
            </a:r>
          </a:p>
        </p:txBody>
      </p:sp>
      <p:pic>
        <p:nvPicPr>
          <p:cNvPr id="6" name="Picture 5">
            <a:extLst>
              <a:ext uri="{FF2B5EF4-FFF2-40B4-BE49-F238E27FC236}">
                <a16:creationId xmlns:a16="http://schemas.microsoft.com/office/drawing/2014/main" id="{8985749A-CA1C-9A07-21CB-887A5FC60985}"/>
              </a:ext>
            </a:extLst>
          </p:cNvPr>
          <p:cNvPicPr>
            <a:picLocks noChangeAspect="1"/>
          </p:cNvPicPr>
          <p:nvPr/>
        </p:nvPicPr>
        <p:blipFill>
          <a:blip r:embed="rId2"/>
          <a:stretch>
            <a:fillRect/>
          </a:stretch>
        </p:blipFill>
        <p:spPr>
          <a:xfrm>
            <a:off x="7360337" y="137653"/>
            <a:ext cx="4620270" cy="2372056"/>
          </a:xfrm>
          <a:prstGeom prst="rect">
            <a:avLst/>
          </a:prstGeom>
        </p:spPr>
      </p:pic>
      <p:pic>
        <p:nvPicPr>
          <p:cNvPr id="8" name="Picture 7">
            <a:extLst>
              <a:ext uri="{FF2B5EF4-FFF2-40B4-BE49-F238E27FC236}">
                <a16:creationId xmlns:a16="http://schemas.microsoft.com/office/drawing/2014/main" id="{95C43723-2252-1DBD-A4A6-17F8AC4E1CA9}"/>
              </a:ext>
            </a:extLst>
          </p:cNvPr>
          <p:cNvPicPr>
            <a:picLocks noChangeAspect="1"/>
          </p:cNvPicPr>
          <p:nvPr/>
        </p:nvPicPr>
        <p:blipFill>
          <a:blip r:embed="rId3"/>
          <a:stretch>
            <a:fillRect/>
          </a:stretch>
        </p:blipFill>
        <p:spPr>
          <a:xfrm>
            <a:off x="8076743" y="2778118"/>
            <a:ext cx="3277057" cy="3493927"/>
          </a:xfrm>
          <a:prstGeom prst="rect">
            <a:avLst/>
          </a:prstGeom>
        </p:spPr>
      </p:pic>
    </p:spTree>
    <p:extLst>
      <p:ext uri="{BB962C8B-B14F-4D97-AF65-F5344CB8AC3E}">
        <p14:creationId xmlns:p14="http://schemas.microsoft.com/office/powerpoint/2010/main" val="118409007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4A6B53-EB62-FE3B-DE04-672533E7F259}"/>
              </a:ext>
            </a:extLst>
          </p:cNvPr>
          <p:cNvSpPr>
            <a:spLocks noGrp="1"/>
          </p:cNvSpPr>
          <p:nvPr>
            <p:ph type="title"/>
          </p:nvPr>
        </p:nvSpPr>
        <p:spPr/>
        <p:txBody>
          <a:bodyPr/>
          <a:lstStyle/>
          <a:p>
            <a:pPr algn="ctr"/>
            <a:r>
              <a:rPr lang="en-IN" u="sng" dirty="0">
                <a:solidFill>
                  <a:schemeClr val="bg1">
                    <a:lumMod val="50000"/>
                  </a:schemeClr>
                </a:solidFill>
                <a:latin typeface="Segoe UI Black" panose="020B0A02040204020203" pitchFamily="34" charset="0"/>
                <a:ea typeface="Segoe UI Black" panose="020B0A02040204020203" pitchFamily="34" charset="0"/>
              </a:rPr>
              <a:t>EV Analysis</a:t>
            </a:r>
          </a:p>
        </p:txBody>
      </p:sp>
      <p:sp>
        <p:nvSpPr>
          <p:cNvPr id="4" name="Rectangle 1">
            <a:extLst>
              <a:ext uri="{FF2B5EF4-FFF2-40B4-BE49-F238E27FC236}">
                <a16:creationId xmlns:a16="http://schemas.microsoft.com/office/drawing/2014/main" id="{7F47501D-6B28-3537-64E9-E50349332BC5}"/>
              </a:ext>
            </a:extLst>
          </p:cNvPr>
          <p:cNvSpPr>
            <a:spLocks noGrp="1" noChangeArrowheads="1"/>
          </p:cNvSpPr>
          <p:nvPr>
            <p:ph idx="1"/>
          </p:nvPr>
        </p:nvSpPr>
        <p:spPr bwMode="auto">
          <a:xfrm>
            <a:off x="339437" y="2506457"/>
            <a:ext cx="5544128" cy="28007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1100" i="0" u="none" strike="noStrike" cap="none" normalizeH="0" baseline="0" dirty="0">
                <a:ln>
                  <a:noFill/>
                </a:ln>
                <a:solidFill>
                  <a:schemeClr val="tx1"/>
                </a:solidFill>
                <a:effectLst/>
                <a:latin typeface="Segoe UI Black" panose="020B0A02040204020203" pitchFamily="34" charset="0"/>
                <a:ea typeface="Segoe UI Black" panose="020B0A02040204020203" pitchFamily="34" charset="0"/>
              </a:rPr>
              <a:t>States with higher EV adoption show lower average AQI (110.53) compared to low-EV states (117.36), </a:t>
            </a:r>
            <a:r>
              <a:rPr lang="en-US" altLang="en-US" sz="1100" dirty="0">
                <a:latin typeface="Segoe UI Black" panose="020B0A02040204020203" pitchFamily="34" charset="0"/>
                <a:ea typeface="Segoe UI Black" panose="020B0A02040204020203" pitchFamily="34" charset="0"/>
              </a:rPr>
              <a:t> </a:t>
            </a:r>
            <a:r>
              <a:rPr kumimoji="0" lang="en-US" altLang="en-US" sz="1100" i="0" u="none" strike="noStrike" cap="none" normalizeH="0" baseline="0" dirty="0">
                <a:ln>
                  <a:noFill/>
                </a:ln>
                <a:solidFill>
                  <a:schemeClr val="tx1"/>
                </a:solidFill>
                <a:effectLst/>
                <a:latin typeface="Segoe UI Black" panose="020B0A02040204020203" pitchFamily="34" charset="0"/>
                <a:ea typeface="Segoe UI Black" panose="020B0A02040204020203" pitchFamily="34" charset="0"/>
              </a:rPr>
              <a:t>indicating a positive environmental impact.</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100" i="0" u="none" strike="noStrike" cap="none" normalizeH="0" baseline="0" dirty="0">
              <a:ln>
                <a:noFill/>
              </a:ln>
              <a:solidFill>
                <a:schemeClr val="tx1"/>
              </a:solidFill>
              <a:effectLst/>
              <a:latin typeface="Segoe UI Black" panose="020B0A02040204020203" pitchFamily="34" charset="0"/>
              <a:ea typeface="Segoe UI Black" panose="020B0A02040204020203" pitchFamily="34" charset="0"/>
            </a:endParaRP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1100" i="0" u="none" strike="noStrike" cap="none" normalizeH="0" baseline="0" dirty="0">
                <a:ln>
                  <a:noFill/>
                </a:ln>
                <a:solidFill>
                  <a:schemeClr val="tx1"/>
                </a:solidFill>
                <a:effectLst/>
                <a:latin typeface="Segoe UI Black" panose="020B0A02040204020203" pitchFamily="34" charset="0"/>
                <a:ea typeface="Segoe UI Black" panose="020B0A02040204020203" pitchFamily="34" charset="0"/>
              </a:rPr>
              <a:t>Uttar Pradesh and Maharashtra have both the highest vehicle counts and highest AQI levels</a:t>
            </a:r>
            <a:r>
              <a:rPr lang="en-US" altLang="en-US" sz="1100" dirty="0">
                <a:latin typeface="Segoe UI Black" panose="020B0A02040204020203" pitchFamily="34" charset="0"/>
                <a:ea typeface="Segoe UI Black" panose="020B0A02040204020203" pitchFamily="34" charset="0"/>
              </a:rPr>
              <a:t>,</a:t>
            </a:r>
            <a:r>
              <a:rPr kumimoji="0" lang="en-US" altLang="en-US" sz="1100" i="0" u="none" strike="noStrike" cap="none" normalizeH="0" baseline="0" dirty="0">
                <a:ln>
                  <a:noFill/>
                </a:ln>
                <a:solidFill>
                  <a:schemeClr val="tx1"/>
                </a:solidFill>
                <a:effectLst/>
                <a:latin typeface="Segoe UI Black" panose="020B0A02040204020203" pitchFamily="34" charset="0"/>
                <a:ea typeface="Segoe UI Black" panose="020B0A02040204020203" pitchFamily="34" charset="0"/>
              </a:rPr>
              <a:t> showing a direct vehicle–pollution link.</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100" i="0" u="none" strike="noStrike" cap="none" normalizeH="0" baseline="0" dirty="0">
              <a:ln>
                <a:noFill/>
              </a:ln>
              <a:solidFill>
                <a:schemeClr val="tx1"/>
              </a:solidFill>
              <a:effectLst/>
              <a:latin typeface="Segoe UI Black" panose="020B0A02040204020203" pitchFamily="34" charset="0"/>
              <a:ea typeface="Segoe UI Black" panose="020B0A02040204020203" pitchFamily="34" charset="0"/>
            </a:endParaRP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1100" i="0" u="none" strike="noStrike" cap="none" normalizeH="0" baseline="0" dirty="0">
                <a:ln>
                  <a:noFill/>
                </a:ln>
                <a:solidFill>
                  <a:schemeClr val="tx1"/>
                </a:solidFill>
                <a:effectLst/>
                <a:latin typeface="Segoe UI Black" panose="020B0A02040204020203" pitchFamily="34" charset="0"/>
                <a:ea typeface="Segoe UI Black" panose="020B0A02040204020203" pitchFamily="34" charset="0"/>
              </a:rPr>
              <a:t>Petrol vehicles dominate total registrations, while EV count (5 million) is significantly lower than conventional vehicles (73 million).</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100" i="0" u="none" strike="noStrike" cap="none" normalizeH="0" baseline="0" dirty="0">
              <a:ln>
                <a:noFill/>
              </a:ln>
              <a:solidFill>
                <a:schemeClr val="tx1"/>
              </a:solidFill>
              <a:effectLst/>
              <a:latin typeface="Segoe UI Black" panose="020B0A02040204020203" pitchFamily="34" charset="0"/>
              <a:ea typeface="Segoe UI Black" panose="020B0A02040204020203" pitchFamily="34" charset="0"/>
            </a:endParaRP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1100" i="0" u="none" strike="noStrike" cap="none" normalizeH="0" baseline="0" dirty="0">
                <a:ln>
                  <a:noFill/>
                </a:ln>
                <a:solidFill>
                  <a:schemeClr val="tx1"/>
                </a:solidFill>
                <a:effectLst/>
                <a:latin typeface="Segoe UI Black" panose="020B0A02040204020203" pitchFamily="34" charset="0"/>
                <a:ea typeface="Segoe UI Black" panose="020B0A02040204020203" pitchFamily="34" charset="0"/>
              </a:rPr>
              <a:t>Even in high-EV states like Rajasthan, Tamil Nadu, and Karnataka, </a:t>
            </a:r>
          </a:p>
          <a:p>
            <a:pPr marL="0" marR="0" lvl="0" indent="0" algn="l" defTabSz="914400" rtl="0" eaLnBrk="0" fontAlgn="base" latinLnBrk="0" hangingPunct="0">
              <a:lnSpc>
                <a:spcPct val="100000"/>
              </a:lnSpc>
              <a:spcBef>
                <a:spcPct val="0"/>
              </a:spcBef>
              <a:spcAft>
                <a:spcPct val="0"/>
              </a:spcAft>
              <a:buClrTx/>
              <a:buSzTx/>
              <a:buNone/>
              <a:tabLst/>
            </a:pPr>
            <a:r>
              <a:rPr lang="en-US" altLang="en-US" sz="1100" dirty="0">
                <a:latin typeface="Segoe UI Black" panose="020B0A02040204020203" pitchFamily="34" charset="0"/>
                <a:ea typeface="Segoe UI Black" panose="020B0A02040204020203" pitchFamily="34" charset="0"/>
              </a:rPr>
              <a:t>      </a:t>
            </a:r>
            <a:r>
              <a:rPr kumimoji="0" lang="en-US" altLang="en-US" sz="1100" i="0" u="none" strike="noStrike" cap="none" normalizeH="0" baseline="0" dirty="0">
                <a:ln>
                  <a:noFill/>
                </a:ln>
                <a:solidFill>
                  <a:schemeClr val="tx1"/>
                </a:solidFill>
                <a:effectLst/>
                <a:latin typeface="Segoe UI Black" panose="020B0A02040204020203" pitchFamily="34" charset="0"/>
                <a:ea typeface="Segoe UI Black" panose="020B0A02040204020203" pitchFamily="34" charset="0"/>
              </a:rPr>
              <a:t>EV penetration remains too small to significantly reduce AQI.</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100" i="0" u="none" strike="noStrike" cap="none" normalizeH="0" baseline="0" dirty="0">
              <a:ln>
                <a:noFill/>
              </a:ln>
              <a:solidFill>
                <a:schemeClr val="tx1"/>
              </a:solidFill>
              <a:effectLst/>
              <a:latin typeface="Segoe UI Black" panose="020B0A02040204020203" pitchFamily="34" charset="0"/>
              <a:ea typeface="Segoe UI Black" panose="020B0A02040204020203" pitchFamily="34" charset="0"/>
            </a:endParaRP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1100" i="0" u="none" strike="noStrike" cap="none" normalizeH="0" baseline="0" dirty="0">
                <a:ln>
                  <a:noFill/>
                </a:ln>
                <a:solidFill>
                  <a:schemeClr val="tx1"/>
                </a:solidFill>
                <a:effectLst/>
                <a:latin typeface="Segoe UI Black" panose="020B0A02040204020203" pitchFamily="34" charset="0"/>
                <a:ea typeface="Segoe UI Black" panose="020B0A02040204020203" pitchFamily="34" charset="0"/>
              </a:rPr>
              <a:t>Strategic recommendation :- Increase EV adoption toward a balanced vehicle mix (target 35–75) in high-AQI states to drive meaningful air quality improvement.</a:t>
            </a:r>
          </a:p>
        </p:txBody>
      </p:sp>
      <p:pic>
        <p:nvPicPr>
          <p:cNvPr id="6" name="Picture 5">
            <a:extLst>
              <a:ext uri="{FF2B5EF4-FFF2-40B4-BE49-F238E27FC236}">
                <a16:creationId xmlns:a16="http://schemas.microsoft.com/office/drawing/2014/main" id="{DC056780-FC3C-1717-B1A9-C19EA786E2A5}"/>
              </a:ext>
            </a:extLst>
          </p:cNvPr>
          <p:cNvPicPr>
            <a:picLocks noChangeAspect="1"/>
          </p:cNvPicPr>
          <p:nvPr/>
        </p:nvPicPr>
        <p:blipFill>
          <a:blip r:embed="rId2"/>
          <a:stretch>
            <a:fillRect/>
          </a:stretch>
        </p:blipFill>
        <p:spPr>
          <a:xfrm>
            <a:off x="5883565" y="2216727"/>
            <a:ext cx="6160653" cy="3343564"/>
          </a:xfrm>
          <a:prstGeom prst="rect">
            <a:avLst/>
          </a:prstGeom>
        </p:spPr>
      </p:pic>
    </p:spTree>
    <p:extLst>
      <p:ext uri="{BB962C8B-B14F-4D97-AF65-F5344CB8AC3E}">
        <p14:creationId xmlns:p14="http://schemas.microsoft.com/office/powerpoint/2010/main" val="52797726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6921FA-60E1-9566-B4A9-91A028968C99}"/>
              </a:ext>
            </a:extLst>
          </p:cNvPr>
          <p:cNvSpPr>
            <a:spLocks noGrp="1"/>
          </p:cNvSpPr>
          <p:nvPr>
            <p:ph type="title"/>
          </p:nvPr>
        </p:nvSpPr>
        <p:spPr/>
        <p:txBody>
          <a:bodyPr/>
          <a:lstStyle/>
          <a:p>
            <a:pPr algn="ctr"/>
            <a:r>
              <a:rPr lang="en-IN" b="1" u="sng" dirty="0">
                <a:solidFill>
                  <a:schemeClr val="bg1">
                    <a:lumMod val="50000"/>
                  </a:schemeClr>
                </a:solidFill>
                <a:latin typeface="Segoe UI Black" panose="020B0A02040204020203" pitchFamily="34" charset="0"/>
                <a:ea typeface="Segoe UI Black" panose="020B0A02040204020203" pitchFamily="34" charset="0"/>
              </a:rPr>
              <a:t>Competitor Analysis</a:t>
            </a:r>
          </a:p>
        </p:txBody>
      </p:sp>
      <p:graphicFrame>
        <p:nvGraphicFramePr>
          <p:cNvPr id="4" name="Content Placeholder 3">
            <a:extLst>
              <a:ext uri="{FF2B5EF4-FFF2-40B4-BE49-F238E27FC236}">
                <a16:creationId xmlns:a16="http://schemas.microsoft.com/office/drawing/2014/main" id="{A6C0F11C-4170-CB4F-1508-3CC73F29A5C5}"/>
              </a:ext>
            </a:extLst>
          </p:cNvPr>
          <p:cNvGraphicFramePr>
            <a:graphicFrameLocks noGrp="1"/>
          </p:cNvGraphicFramePr>
          <p:nvPr>
            <p:ph idx="1"/>
            <p:extLst>
              <p:ext uri="{D42A27DB-BD31-4B8C-83A1-F6EECF244321}">
                <p14:modId xmlns:p14="http://schemas.microsoft.com/office/powerpoint/2010/main" val="3557026221"/>
              </p:ext>
            </p:extLst>
          </p:nvPr>
        </p:nvGraphicFramePr>
        <p:xfrm>
          <a:off x="1108363" y="1690688"/>
          <a:ext cx="10125364" cy="518160"/>
        </p:xfrm>
        <a:graphic>
          <a:graphicData uri="http://schemas.openxmlformats.org/drawingml/2006/table">
            <a:tbl>
              <a:tblPr/>
              <a:tblGrid>
                <a:gridCol w="2531341">
                  <a:extLst>
                    <a:ext uri="{9D8B030D-6E8A-4147-A177-3AD203B41FA5}">
                      <a16:colId xmlns:a16="http://schemas.microsoft.com/office/drawing/2014/main" val="3213541328"/>
                    </a:ext>
                  </a:extLst>
                </a:gridCol>
                <a:gridCol w="2531341">
                  <a:extLst>
                    <a:ext uri="{9D8B030D-6E8A-4147-A177-3AD203B41FA5}">
                      <a16:colId xmlns:a16="http://schemas.microsoft.com/office/drawing/2014/main" val="3010502477"/>
                    </a:ext>
                  </a:extLst>
                </a:gridCol>
                <a:gridCol w="2531341">
                  <a:extLst>
                    <a:ext uri="{9D8B030D-6E8A-4147-A177-3AD203B41FA5}">
                      <a16:colId xmlns:a16="http://schemas.microsoft.com/office/drawing/2014/main" val="263052335"/>
                    </a:ext>
                  </a:extLst>
                </a:gridCol>
                <a:gridCol w="2531341">
                  <a:extLst>
                    <a:ext uri="{9D8B030D-6E8A-4147-A177-3AD203B41FA5}">
                      <a16:colId xmlns:a16="http://schemas.microsoft.com/office/drawing/2014/main" val="3196105468"/>
                    </a:ext>
                  </a:extLst>
                </a:gridCol>
              </a:tblGrid>
              <a:tr h="0">
                <a:tc>
                  <a:txBody>
                    <a:bodyPr/>
                    <a:lstStyle/>
                    <a:p>
                      <a:pPr algn="ctr">
                        <a:buNone/>
                      </a:pPr>
                      <a:r>
                        <a:rPr lang="en-IN" sz="1100" dirty="0">
                          <a:latin typeface="Segoe UI Black" panose="020B0A02040204020203" pitchFamily="34" charset="0"/>
                          <a:ea typeface="Segoe UI Black" panose="020B0A02040204020203" pitchFamily="34" charset="0"/>
                        </a:rPr>
                        <a:t>Avg Price</a:t>
                      </a:r>
                    </a:p>
                  </a:txBody>
                  <a:tcPr anchor="ctr">
                    <a:lnL>
                      <a:noFill/>
                    </a:lnL>
                    <a:lnR>
                      <a:noFill/>
                    </a:lnR>
                    <a:lnT>
                      <a:noFill/>
                    </a:lnT>
                    <a:lnB>
                      <a:noFill/>
                    </a:lnB>
                    <a:noFill/>
                  </a:tcPr>
                </a:tc>
                <a:tc>
                  <a:txBody>
                    <a:bodyPr/>
                    <a:lstStyle/>
                    <a:p>
                      <a:pPr algn="ctr">
                        <a:buNone/>
                      </a:pPr>
                      <a:r>
                        <a:rPr lang="en-IN" sz="1100" dirty="0">
                          <a:latin typeface="Segoe UI Black" panose="020B0A02040204020203" pitchFamily="34" charset="0"/>
                          <a:ea typeface="Segoe UI Black" panose="020B0A02040204020203" pitchFamily="34" charset="0"/>
                        </a:rPr>
                        <a:t>Avg ₹/CADR</a:t>
                      </a:r>
                    </a:p>
                  </a:txBody>
                  <a:tcPr anchor="ctr">
                    <a:lnL>
                      <a:noFill/>
                    </a:lnL>
                    <a:lnR>
                      <a:noFill/>
                    </a:lnR>
                    <a:lnT>
                      <a:noFill/>
                    </a:lnT>
                    <a:lnB>
                      <a:noFill/>
                    </a:lnB>
                    <a:noFill/>
                  </a:tcPr>
                </a:tc>
                <a:tc>
                  <a:txBody>
                    <a:bodyPr/>
                    <a:lstStyle/>
                    <a:p>
                      <a:pPr algn="ctr">
                        <a:buNone/>
                      </a:pPr>
                      <a:r>
                        <a:rPr lang="en-IN" sz="1100">
                          <a:latin typeface="Segoe UI Black" panose="020B0A02040204020203" pitchFamily="34" charset="0"/>
                          <a:ea typeface="Segoe UI Black" panose="020B0A02040204020203" pitchFamily="34" charset="0"/>
                        </a:rPr>
                        <a:t>Top Pollutants</a:t>
                      </a:r>
                    </a:p>
                  </a:txBody>
                  <a:tcPr anchor="ctr">
                    <a:lnL>
                      <a:noFill/>
                    </a:lnL>
                    <a:lnR>
                      <a:noFill/>
                    </a:lnR>
                    <a:lnT>
                      <a:noFill/>
                    </a:lnT>
                    <a:lnB>
                      <a:noFill/>
                    </a:lnB>
                    <a:noFill/>
                  </a:tcPr>
                </a:tc>
                <a:tc>
                  <a:txBody>
                    <a:bodyPr/>
                    <a:lstStyle/>
                    <a:p>
                      <a:pPr algn="ctr">
                        <a:buNone/>
                      </a:pPr>
                      <a:r>
                        <a:rPr lang="en-IN" sz="1100">
                          <a:latin typeface="Segoe UI Black" panose="020B0A02040204020203" pitchFamily="34" charset="0"/>
                          <a:ea typeface="Segoe UI Black" panose="020B0A02040204020203" pitchFamily="34" charset="0"/>
                        </a:rPr>
                        <a:t>Dominant Tier</a:t>
                      </a:r>
                    </a:p>
                  </a:txBody>
                  <a:tcPr anchor="ctr">
                    <a:lnL>
                      <a:noFill/>
                    </a:lnL>
                    <a:lnR>
                      <a:noFill/>
                    </a:lnR>
                    <a:lnT>
                      <a:noFill/>
                    </a:lnT>
                    <a:lnB>
                      <a:noFill/>
                    </a:lnB>
                    <a:noFill/>
                  </a:tcPr>
                </a:tc>
                <a:extLst>
                  <a:ext uri="{0D108BD9-81ED-4DB2-BD59-A6C34878D82A}">
                    <a16:rowId xmlns:a16="http://schemas.microsoft.com/office/drawing/2014/main" val="3624777313"/>
                  </a:ext>
                </a:extLst>
              </a:tr>
              <a:tr h="0">
                <a:tc>
                  <a:txBody>
                    <a:bodyPr/>
                    <a:lstStyle/>
                    <a:p>
                      <a:pPr algn="ctr">
                        <a:buNone/>
                      </a:pPr>
                      <a:r>
                        <a:rPr lang="en-IN" sz="1100" dirty="0">
                          <a:latin typeface="Segoe UI Black" panose="020B0A02040204020203" pitchFamily="34" charset="0"/>
                          <a:ea typeface="Segoe UI Black" panose="020B0A02040204020203" pitchFamily="34" charset="0"/>
                        </a:rPr>
                        <a:t>₹22K</a:t>
                      </a:r>
                    </a:p>
                  </a:txBody>
                  <a:tcPr anchor="ctr">
                    <a:lnL>
                      <a:noFill/>
                    </a:lnL>
                    <a:lnR>
                      <a:noFill/>
                    </a:lnR>
                    <a:lnT>
                      <a:noFill/>
                    </a:lnT>
                    <a:lnB>
                      <a:noFill/>
                    </a:lnB>
                    <a:noFill/>
                  </a:tcPr>
                </a:tc>
                <a:tc>
                  <a:txBody>
                    <a:bodyPr/>
                    <a:lstStyle/>
                    <a:p>
                      <a:pPr algn="ctr">
                        <a:buNone/>
                      </a:pPr>
                      <a:r>
                        <a:rPr lang="en-IN" sz="1100">
                          <a:latin typeface="Segoe UI Black" panose="020B0A02040204020203" pitchFamily="34" charset="0"/>
                          <a:ea typeface="Segoe UI Black" panose="020B0A02040204020203" pitchFamily="34" charset="0"/>
                        </a:rPr>
                        <a:t>₹55.55</a:t>
                      </a:r>
                    </a:p>
                  </a:txBody>
                  <a:tcPr anchor="ctr">
                    <a:lnL>
                      <a:noFill/>
                    </a:lnL>
                    <a:lnR>
                      <a:noFill/>
                    </a:lnR>
                    <a:lnT>
                      <a:noFill/>
                    </a:lnT>
                    <a:lnB>
                      <a:noFill/>
                    </a:lnB>
                    <a:noFill/>
                  </a:tcPr>
                </a:tc>
                <a:tc>
                  <a:txBody>
                    <a:bodyPr/>
                    <a:lstStyle/>
                    <a:p>
                      <a:pPr algn="ctr">
                        <a:buNone/>
                      </a:pPr>
                      <a:r>
                        <a:rPr lang="en-IN" sz="1100">
                          <a:latin typeface="Segoe UI Black" panose="020B0A02040204020203" pitchFamily="34" charset="0"/>
                          <a:ea typeface="Segoe UI Black" panose="020B0A02040204020203" pitchFamily="34" charset="0"/>
                        </a:rPr>
                        <a:t>PM2.5, PM10, VOCs</a:t>
                      </a:r>
                    </a:p>
                  </a:txBody>
                  <a:tcPr anchor="ctr">
                    <a:lnL>
                      <a:noFill/>
                    </a:lnL>
                    <a:lnR>
                      <a:noFill/>
                    </a:lnR>
                    <a:lnT>
                      <a:noFill/>
                    </a:lnT>
                    <a:lnB>
                      <a:noFill/>
                    </a:lnB>
                    <a:noFill/>
                  </a:tcPr>
                </a:tc>
                <a:tc>
                  <a:txBody>
                    <a:bodyPr/>
                    <a:lstStyle/>
                    <a:p>
                      <a:pPr algn="ctr">
                        <a:buNone/>
                      </a:pPr>
                      <a:r>
                        <a:rPr lang="en-IN" sz="1100" dirty="0">
                          <a:latin typeface="Segoe UI Black" panose="020B0A02040204020203" pitchFamily="34" charset="0"/>
                          <a:ea typeface="Segoe UI Black" panose="020B0A02040204020203" pitchFamily="34" charset="0"/>
                        </a:rPr>
                        <a:t>Mid-Range (66.7%)</a:t>
                      </a:r>
                    </a:p>
                  </a:txBody>
                  <a:tcPr anchor="ctr">
                    <a:lnL>
                      <a:noFill/>
                    </a:lnL>
                    <a:lnR>
                      <a:noFill/>
                    </a:lnR>
                    <a:lnT>
                      <a:noFill/>
                    </a:lnT>
                    <a:lnB>
                      <a:noFill/>
                    </a:lnB>
                    <a:noFill/>
                  </a:tcPr>
                </a:tc>
                <a:extLst>
                  <a:ext uri="{0D108BD9-81ED-4DB2-BD59-A6C34878D82A}">
                    <a16:rowId xmlns:a16="http://schemas.microsoft.com/office/drawing/2014/main" val="4185336092"/>
                  </a:ext>
                </a:extLst>
              </a:tr>
            </a:tbl>
          </a:graphicData>
        </a:graphic>
      </p:graphicFrame>
      <p:sp>
        <p:nvSpPr>
          <p:cNvPr id="5" name="TextBox 4">
            <a:extLst>
              <a:ext uri="{FF2B5EF4-FFF2-40B4-BE49-F238E27FC236}">
                <a16:creationId xmlns:a16="http://schemas.microsoft.com/office/drawing/2014/main" id="{55335C0F-3189-7330-0EB6-70BD57152F11}"/>
              </a:ext>
            </a:extLst>
          </p:cNvPr>
          <p:cNvSpPr txBox="1"/>
          <p:nvPr/>
        </p:nvSpPr>
        <p:spPr>
          <a:xfrm>
            <a:off x="468745" y="3240414"/>
            <a:ext cx="3087255" cy="2123658"/>
          </a:xfrm>
          <a:prstGeom prst="rect">
            <a:avLst/>
          </a:prstGeom>
          <a:noFill/>
        </p:spPr>
        <p:txBody>
          <a:bodyPr wrap="square" rtlCol="0">
            <a:spAutoFit/>
          </a:bodyPr>
          <a:lstStyle/>
          <a:p>
            <a:pPr algn="ctr"/>
            <a:r>
              <a:rPr lang="en-IN" sz="1200" dirty="0">
                <a:latin typeface="Segoe UI Black" panose="020B0A02040204020203" pitchFamily="34" charset="0"/>
                <a:ea typeface="Segoe UI Black" panose="020B0A02040204020203" pitchFamily="34" charset="0"/>
              </a:rPr>
              <a:t>Budget (≤ ₹15K)</a:t>
            </a:r>
          </a:p>
          <a:p>
            <a:pPr marL="171450" indent="-171450" algn="ctr">
              <a:buFont typeface="Wingdings" panose="05000000000000000000" pitchFamily="2" charset="2"/>
              <a:buChar char="Ø"/>
            </a:pPr>
            <a:endParaRPr lang="en-IN" sz="1200" dirty="0">
              <a:latin typeface="Segoe UI Black" panose="020B0A02040204020203" pitchFamily="34" charset="0"/>
              <a:ea typeface="Segoe UI Black" panose="020B0A02040204020203" pitchFamily="34" charset="0"/>
            </a:endParaRPr>
          </a:p>
          <a:p>
            <a:pPr marL="171450" indent="-171450" algn="ctr">
              <a:buFont typeface="Wingdings" panose="05000000000000000000" pitchFamily="2" charset="2"/>
              <a:buChar char="Ø"/>
            </a:pPr>
            <a:r>
              <a:rPr lang="en-IN" sz="1200" dirty="0">
                <a:latin typeface="Segoe UI Black" panose="020B0A02040204020203" pitchFamily="34" charset="0"/>
                <a:ea typeface="Segoe UI Black" panose="020B0A02040204020203" pitchFamily="34" charset="0"/>
              </a:rPr>
              <a:t>CADR: 260–450</a:t>
            </a:r>
          </a:p>
          <a:p>
            <a:pPr marL="171450" indent="-171450" algn="ctr">
              <a:buFont typeface="Wingdings" panose="05000000000000000000" pitchFamily="2" charset="2"/>
              <a:buChar char="Ø"/>
            </a:pPr>
            <a:endParaRPr lang="en-IN" sz="1200" dirty="0">
              <a:latin typeface="Segoe UI Black" panose="020B0A02040204020203" pitchFamily="34" charset="0"/>
              <a:ea typeface="Segoe UI Black" panose="020B0A02040204020203" pitchFamily="34" charset="0"/>
            </a:endParaRPr>
          </a:p>
          <a:p>
            <a:pPr marL="171450" indent="-171450" algn="ctr">
              <a:buFont typeface="Wingdings" panose="05000000000000000000" pitchFamily="2" charset="2"/>
              <a:buChar char="Ø"/>
            </a:pPr>
            <a:r>
              <a:rPr lang="en-IN" sz="1200" dirty="0">
                <a:latin typeface="Segoe UI Black" panose="020B0A02040204020203" pitchFamily="34" charset="0"/>
                <a:ea typeface="Segoe UI Black" panose="020B0A02040204020203" pitchFamily="34" charset="0"/>
              </a:rPr>
              <a:t>Coverage: 300–600 sq ft</a:t>
            </a:r>
          </a:p>
          <a:p>
            <a:pPr marL="171450" indent="-171450" algn="ctr">
              <a:buFont typeface="Wingdings" panose="05000000000000000000" pitchFamily="2" charset="2"/>
              <a:buChar char="Ø"/>
            </a:pPr>
            <a:endParaRPr lang="en-IN" sz="1200" dirty="0">
              <a:latin typeface="Segoe UI Black" panose="020B0A02040204020203" pitchFamily="34" charset="0"/>
              <a:ea typeface="Segoe UI Black" panose="020B0A02040204020203" pitchFamily="34" charset="0"/>
            </a:endParaRPr>
          </a:p>
          <a:p>
            <a:pPr marL="171450" indent="-171450" algn="ctr">
              <a:buFont typeface="Wingdings" panose="05000000000000000000" pitchFamily="2" charset="2"/>
              <a:buChar char="Ø"/>
            </a:pPr>
            <a:r>
              <a:rPr lang="en-IN" sz="1200" dirty="0">
                <a:latin typeface="Segoe UI Black" panose="020B0A02040204020203" pitchFamily="34" charset="0"/>
                <a:ea typeface="Segoe UI Black" panose="020B0A02040204020203" pitchFamily="34" charset="0"/>
              </a:rPr>
              <a:t>Filters: H13 HEPA + Carbon</a:t>
            </a:r>
          </a:p>
          <a:p>
            <a:pPr marL="171450" indent="-171450" algn="ctr">
              <a:buFont typeface="Wingdings" panose="05000000000000000000" pitchFamily="2" charset="2"/>
              <a:buChar char="Ø"/>
            </a:pPr>
            <a:endParaRPr lang="en-IN" sz="1200" dirty="0">
              <a:latin typeface="Segoe UI Black" panose="020B0A02040204020203" pitchFamily="34" charset="0"/>
              <a:ea typeface="Segoe UI Black" panose="020B0A02040204020203" pitchFamily="34" charset="0"/>
            </a:endParaRPr>
          </a:p>
          <a:p>
            <a:pPr marL="171450" indent="-171450" algn="ctr">
              <a:buFont typeface="Wingdings" panose="05000000000000000000" pitchFamily="2" charset="2"/>
              <a:buChar char="Ø"/>
            </a:pPr>
            <a:r>
              <a:rPr lang="en-IN" sz="1200" dirty="0">
                <a:latin typeface="Segoe UI Black" panose="020B0A02040204020203" pitchFamily="34" charset="0"/>
                <a:ea typeface="Segoe UI Black" panose="020B0A02040204020203" pitchFamily="34" charset="0"/>
              </a:rPr>
              <a:t>Targets: PM2.5, Dust, Smoke</a:t>
            </a:r>
          </a:p>
          <a:p>
            <a:pPr marL="171450" indent="-171450" algn="ctr">
              <a:buFont typeface="Wingdings" panose="05000000000000000000" pitchFamily="2" charset="2"/>
              <a:buChar char="Ø"/>
            </a:pPr>
            <a:endParaRPr lang="en-IN" sz="1200" dirty="0">
              <a:latin typeface="Segoe UI Black" panose="020B0A02040204020203" pitchFamily="34" charset="0"/>
              <a:ea typeface="Segoe UI Black" panose="020B0A02040204020203" pitchFamily="34" charset="0"/>
            </a:endParaRPr>
          </a:p>
          <a:p>
            <a:pPr marL="171450" indent="-171450" algn="ctr">
              <a:buFont typeface="Wingdings" panose="05000000000000000000" pitchFamily="2" charset="2"/>
              <a:buChar char="Ø"/>
            </a:pPr>
            <a:r>
              <a:rPr lang="en-IN" sz="1200" dirty="0">
                <a:latin typeface="Segoe UI Black" panose="020B0A02040204020203" pitchFamily="34" charset="0"/>
                <a:ea typeface="Segoe UI Black" panose="020B0A02040204020203" pitchFamily="34" charset="0"/>
              </a:rPr>
              <a:t>Smart: Basic modes</a:t>
            </a:r>
          </a:p>
        </p:txBody>
      </p:sp>
      <p:sp>
        <p:nvSpPr>
          <p:cNvPr id="6" name="TextBox 5">
            <a:extLst>
              <a:ext uri="{FF2B5EF4-FFF2-40B4-BE49-F238E27FC236}">
                <a16:creationId xmlns:a16="http://schemas.microsoft.com/office/drawing/2014/main" id="{A5DCEB98-4DFE-2006-7A0B-0B9A3D6ADCB1}"/>
              </a:ext>
            </a:extLst>
          </p:cNvPr>
          <p:cNvSpPr txBox="1"/>
          <p:nvPr/>
        </p:nvSpPr>
        <p:spPr>
          <a:xfrm>
            <a:off x="4090554" y="3240414"/>
            <a:ext cx="3087255" cy="2123658"/>
          </a:xfrm>
          <a:prstGeom prst="rect">
            <a:avLst/>
          </a:prstGeom>
          <a:noFill/>
        </p:spPr>
        <p:txBody>
          <a:bodyPr wrap="square" rtlCol="0">
            <a:spAutoFit/>
          </a:bodyPr>
          <a:lstStyle/>
          <a:p>
            <a:pPr algn="ctr"/>
            <a:r>
              <a:rPr lang="en-IN" sz="1200" dirty="0">
                <a:latin typeface="Segoe UI Black" panose="020B0A02040204020203" pitchFamily="34" charset="0"/>
                <a:ea typeface="Segoe UI Black" panose="020B0A02040204020203" pitchFamily="34" charset="0"/>
              </a:rPr>
              <a:t>Mid-Range (₹15K–₹20K)</a:t>
            </a:r>
          </a:p>
          <a:p>
            <a:pPr marL="171450" indent="-171450">
              <a:buFont typeface="Wingdings" panose="05000000000000000000" pitchFamily="2" charset="2"/>
              <a:buChar char="Ø"/>
            </a:pPr>
            <a:endParaRPr lang="en-IN" sz="1200" dirty="0">
              <a:latin typeface="Segoe UI Black" panose="020B0A02040204020203" pitchFamily="34" charset="0"/>
              <a:ea typeface="Segoe UI Black" panose="020B0A02040204020203" pitchFamily="34" charset="0"/>
            </a:endParaRPr>
          </a:p>
          <a:p>
            <a:pPr marL="171450" indent="-171450" algn="ctr">
              <a:buFont typeface="Wingdings" panose="05000000000000000000" pitchFamily="2" charset="2"/>
              <a:buChar char="Ø"/>
            </a:pPr>
            <a:r>
              <a:rPr lang="en-IN" sz="1200" dirty="0">
                <a:latin typeface="Segoe UI Black" panose="020B0A02040204020203" pitchFamily="34" charset="0"/>
                <a:ea typeface="Segoe UI Black" panose="020B0A02040204020203" pitchFamily="34" charset="0"/>
              </a:rPr>
              <a:t>CADR: 360–403</a:t>
            </a:r>
          </a:p>
          <a:p>
            <a:pPr marL="171450" indent="-171450" algn="ctr">
              <a:buFont typeface="Wingdings" panose="05000000000000000000" pitchFamily="2" charset="2"/>
              <a:buChar char="Ø"/>
            </a:pPr>
            <a:endParaRPr lang="en-IN" sz="1200" dirty="0">
              <a:latin typeface="Segoe UI Black" panose="020B0A02040204020203" pitchFamily="34" charset="0"/>
              <a:ea typeface="Segoe UI Black" panose="020B0A02040204020203" pitchFamily="34" charset="0"/>
            </a:endParaRPr>
          </a:p>
          <a:p>
            <a:pPr marL="171450" indent="-171450" algn="ctr">
              <a:buFont typeface="Wingdings" panose="05000000000000000000" pitchFamily="2" charset="2"/>
              <a:buChar char="Ø"/>
            </a:pPr>
            <a:r>
              <a:rPr lang="en-IN" sz="1200" dirty="0">
                <a:latin typeface="Segoe UI Black" panose="020B0A02040204020203" pitchFamily="34" charset="0"/>
                <a:ea typeface="Segoe UI Black" panose="020B0A02040204020203" pitchFamily="34" charset="0"/>
              </a:rPr>
              <a:t>Coverage: 360–500 sq ft</a:t>
            </a:r>
          </a:p>
          <a:p>
            <a:pPr marL="171450" indent="-171450" algn="ctr">
              <a:buFont typeface="Wingdings" panose="05000000000000000000" pitchFamily="2" charset="2"/>
              <a:buChar char="Ø"/>
            </a:pPr>
            <a:endParaRPr lang="en-IN" sz="1200" dirty="0">
              <a:latin typeface="Segoe UI Black" panose="020B0A02040204020203" pitchFamily="34" charset="0"/>
              <a:ea typeface="Segoe UI Black" panose="020B0A02040204020203" pitchFamily="34" charset="0"/>
            </a:endParaRPr>
          </a:p>
          <a:p>
            <a:pPr marL="171450" indent="-171450" algn="ctr">
              <a:buFont typeface="Wingdings" panose="05000000000000000000" pitchFamily="2" charset="2"/>
              <a:buChar char="Ø"/>
            </a:pPr>
            <a:r>
              <a:rPr lang="en-IN" sz="1200" dirty="0">
                <a:latin typeface="Segoe UI Black" panose="020B0A02040204020203" pitchFamily="34" charset="0"/>
                <a:ea typeface="Segoe UI Black" panose="020B0A02040204020203" pitchFamily="34" charset="0"/>
              </a:rPr>
              <a:t>Filters: HEPA + Carbon +       Antimicrobial</a:t>
            </a:r>
          </a:p>
          <a:p>
            <a:pPr marL="171450" indent="-171450" algn="ctr">
              <a:buFont typeface="Wingdings" panose="05000000000000000000" pitchFamily="2" charset="2"/>
              <a:buChar char="Ø"/>
            </a:pPr>
            <a:endParaRPr lang="en-IN" sz="1200" dirty="0">
              <a:latin typeface="Segoe UI Black" panose="020B0A02040204020203" pitchFamily="34" charset="0"/>
              <a:ea typeface="Segoe UI Black" panose="020B0A02040204020203" pitchFamily="34" charset="0"/>
            </a:endParaRPr>
          </a:p>
          <a:p>
            <a:pPr marL="171450" indent="-171450" algn="ctr">
              <a:buFont typeface="Wingdings" panose="05000000000000000000" pitchFamily="2" charset="2"/>
              <a:buChar char="Ø"/>
            </a:pPr>
            <a:r>
              <a:rPr lang="en-IN" sz="1200" dirty="0">
                <a:latin typeface="Segoe UI Black" panose="020B0A02040204020203" pitchFamily="34" charset="0"/>
                <a:ea typeface="Segoe UI Black" panose="020B0A02040204020203" pitchFamily="34" charset="0"/>
              </a:rPr>
              <a:t>Targets: PM2.5, PM10, VOCs</a:t>
            </a:r>
            <a:br>
              <a:rPr lang="en-IN" sz="1200" dirty="0">
                <a:latin typeface="Segoe UI Black" panose="020B0A02040204020203" pitchFamily="34" charset="0"/>
                <a:ea typeface="Segoe UI Black" panose="020B0A02040204020203" pitchFamily="34" charset="0"/>
              </a:rPr>
            </a:br>
            <a:r>
              <a:rPr lang="en-IN" sz="1200" dirty="0">
                <a:latin typeface="Segoe UI Black" panose="020B0A02040204020203" pitchFamily="34" charset="0"/>
                <a:ea typeface="Segoe UI Black" panose="020B0A02040204020203" pitchFamily="34" charset="0"/>
              </a:rPr>
              <a:t>Smart: App + Sensors</a:t>
            </a:r>
          </a:p>
        </p:txBody>
      </p:sp>
      <p:sp>
        <p:nvSpPr>
          <p:cNvPr id="7" name="TextBox 6">
            <a:extLst>
              <a:ext uri="{FF2B5EF4-FFF2-40B4-BE49-F238E27FC236}">
                <a16:creationId xmlns:a16="http://schemas.microsoft.com/office/drawing/2014/main" id="{62F8A949-7E4C-DD68-2A59-C18FA47809B9}"/>
              </a:ext>
            </a:extLst>
          </p:cNvPr>
          <p:cNvSpPr txBox="1"/>
          <p:nvPr/>
        </p:nvSpPr>
        <p:spPr>
          <a:xfrm>
            <a:off x="8423563" y="3149645"/>
            <a:ext cx="3087255" cy="2308324"/>
          </a:xfrm>
          <a:prstGeom prst="rect">
            <a:avLst/>
          </a:prstGeom>
          <a:noFill/>
        </p:spPr>
        <p:txBody>
          <a:bodyPr wrap="square" rtlCol="0">
            <a:spAutoFit/>
          </a:bodyPr>
          <a:lstStyle/>
          <a:p>
            <a:pPr algn="ctr"/>
            <a:r>
              <a:rPr lang="en-IN" sz="1200" dirty="0">
                <a:latin typeface="Segoe UI Black" panose="020B0A02040204020203" pitchFamily="34" charset="0"/>
                <a:ea typeface="Segoe UI Black" panose="020B0A02040204020203" pitchFamily="34" charset="0"/>
              </a:rPr>
              <a:t>Premium (&gt; ₹20K)</a:t>
            </a:r>
          </a:p>
          <a:p>
            <a:pPr marL="171450" indent="-171450" algn="ctr">
              <a:buFont typeface="Wingdings" panose="05000000000000000000" pitchFamily="2" charset="2"/>
              <a:buChar char="Ø"/>
            </a:pPr>
            <a:endParaRPr lang="en-IN" sz="1200" dirty="0">
              <a:latin typeface="Segoe UI Black" panose="020B0A02040204020203" pitchFamily="34" charset="0"/>
              <a:ea typeface="Segoe UI Black" panose="020B0A02040204020203" pitchFamily="34" charset="0"/>
            </a:endParaRPr>
          </a:p>
          <a:p>
            <a:pPr marL="171450" indent="-171450" algn="ctr">
              <a:buFont typeface="Wingdings" panose="05000000000000000000" pitchFamily="2" charset="2"/>
              <a:buChar char="Ø"/>
            </a:pPr>
            <a:r>
              <a:rPr lang="en-IN" sz="1200" dirty="0">
                <a:latin typeface="Segoe UI Black" panose="020B0A02040204020203" pitchFamily="34" charset="0"/>
                <a:ea typeface="Segoe UI Black" panose="020B0A02040204020203" pitchFamily="34" charset="0"/>
              </a:rPr>
              <a:t>CADR: 330–520</a:t>
            </a:r>
          </a:p>
          <a:p>
            <a:pPr marL="171450" indent="-171450" algn="ctr">
              <a:buFont typeface="Wingdings" panose="05000000000000000000" pitchFamily="2" charset="2"/>
              <a:buChar char="Ø"/>
            </a:pPr>
            <a:endParaRPr lang="en-IN" sz="1200" dirty="0">
              <a:latin typeface="Segoe UI Black" panose="020B0A02040204020203" pitchFamily="34" charset="0"/>
              <a:ea typeface="Segoe UI Black" panose="020B0A02040204020203" pitchFamily="34" charset="0"/>
            </a:endParaRPr>
          </a:p>
          <a:p>
            <a:pPr marL="171450" indent="-171450" algn="ctr">
              <a:buFont typeface="Wingdings" panose="05000000000000000000" pitchFamily="2" charset="2"/>
              <a:buChar char="Ø"/>
            </a:pPr>
            <a:r>
              <a:rPr lang="en-IN" sz="1200" dirty="0">
                <a:latin typeface="Segoe UI Black" panose="020B0A02040204020203" pitchFamily="34" charset="0"/>
                <a:ea typeface="Segoe UI Black" panose="020B0A02040204020203" pitchFamily="34" charset="0"/>
              </a:rPr>
              <a:t>Coverage: 538–1000 sq ft</a:t>
            </a:r>
          </a:p>
          <a:p>
            <a:pPr marL="171450" indent="-171450" algn="ctr">
              <a:buFont typeface="Wingdings" panose="05000000000000000000" pitchFamily="2" charset="2"/>
              <a:buChar char="Ø"/>
            </a:pPr>
            <a:endParaRPr lang="en-IN" sz="1200" dirty="0">
              <a:latin typeface="Segoe UI Black" panose="020B0A02040204020203" pitchFamily="34" charset="0"/>
              <a:ea typeface="Segoe UI Black" panose="020B0A02040204020203" pitchFamily="34" charset="0"/>
            </a:endParaRPr>
          </a:p>
          <a:p>
            <a:pPr marL="171450" indent="-171450" algn="ctr">
              <a:buFont typeface="Wingdings" panose="05000000000000000000" pitchFamily="2" charset="2"/>
              <a:buChar char="Ø"/>
            </a:pPr>
            <a:r>
              <a:rPr lang="en-IN" sz="1200" dirty="0">
                <a:latin typeface="Segoe UI Black" panose="020B0A02040204020203" pitchFamily="34" charset="0"/>
                <a:ea typeface="Segoe UI Black" panose="020B0A02040204020203" pitchFamily="34" charset="0"/>
              </a:rPr>
              <a:t>Tech: Plasma / Ion / NanoProtect</a:t>
            </a:r>
          </a:p>
          <a:p>
            <a:pPr marL="171450" indent="-171450" algn="ctr">
              <a:buFont typeface="Wingdings" panose="05000000000000000000" pitchFamily="2" charset="2"/>
              <a:buChar char="Ø"/>
            </a:pPr>
            <a:endParaRPr lang="en-IN" sz="1200" dirty="0">
              <a:latin typeface="Segoe UI Black" panose="020B0A02040204020203" pitchFamily="34" charset="0"/>
              <a:ea typeface="Segoe UI Black" panose="020B0A02040204020203" pitchFamily="34" charset="0"/>
            </a:endParaRPr>
          </a:p>
          <a:p>
            <a:pPr marL="171450" indent="-171450" algn="ctr">
              <a:buFont typeface="Wingdings" panose="05000000000000000000" pitchFamily="2" charset="2"/>
              <a:buChar char="Ø"/>
            </a:pPr>
            <a:r>
              <a:rPr lang="en-IN" sz="1200" dirty="0">
                <a:latin typeface="Segoe UI Black" panose="020B0A02040204020203" pitchFamily="34" charset="0"/>
                <a:ea typeface="Segoe UI Black" panose="020B0A02040204020203" pitchFamily="34" charset="0"/>
              </a:rPr>
              <a:t>Targets: PM2.5, PM10, Formaldehyde, Gases</a:t>
            </a:r>
          </a:p>
          <a:p>
            <a:pPr marL="171450" indent="-171450" algn="ctr">
              <a:buFont typeface="Wingdings" panose="05000000000000000000" pitchFamily="2" charset="2"/>
              <a:buChar char="Ø"/>
            </a:pPr>
            <a:endParaRPr lang="en-IN" sz="1200" dirty="0">
              <a:latin typeface="Segoe UI Black" panose="020B0A02040204020203" pitchFamily="34" charset="0"/>
              <a:ea typeface="Segoe UI Black" panose="020B0A02040204020203" pitchFamily="34" charset="0"/>
            </a:endParaRPr>
          </a:p>
          <a:p>
            <a:pPr marL="171450" indent="-171450" algn="ctr">
              <a:buFont typeface="Wingdings" panose="05000000000000000000" pitchFamily="2" charset="2"/>
              <a:buChar char="Ø"/>
            </a:pPr>
            <a:r>
              <a:rPr lang="en-IN" sz="1200" dirty="0">
                <a:latin typeface="Segoe UI Black" panose="020B0A02040204020203" pitchFamily="34" charset="0"/>
                <a:ea typeface="Segoe UI Black" panose="020B0A02040204020203" pitchFamily="34" charset="0"/>
              </a:rPr>
              <a:t>Smart: App + Voice + Real-time AQI</a:t>
            </a:r>
          </a:p>
        </p:txBody>
      </p:sp>
    </p:spTree>
    <p:extLst>
      <p:ext uri="{BB962C8B-B14F-4D97-AF65-F5344CB8AC3E}">
        <p14:creationId xmlns:p14="http://schemas.microsoft.com/office/powerpoint/2010/main" val="227652100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a:extLst>
              <a:ext uri="{FF2B5EF4-FFF2-40B4-BE49-F238E27FC236}">
                <a16:creationId xmlns:a16="http://schemas.microsoft.com/office/drawing/2014/main" id="{B4C95586-C2E5-8FEE-43EB-0372E0EFC3DA}"/>
              </a:ext>
            </a:extLst>
          </p:cNvPr>
          <p:cNvSpPr>
            <a:spLocks noGrp="1" noChangeArrowheads="1"/>
          </p:cNvSpPr>
          <p:nvPr>
            <p:ph idx="1"/>
          </p:nvPr>
        </p:nvSpPr>
        <p:spPr bwMode="auto">
          <a:xfrm>
            <a:off x="686954" y="692333"/>
            <a:ext cx="10818091" cy="44012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2000" b="0" i="0" u="none" strike="noStrike" cap="none" normalizeH="0" baseline="0" dirty="0">
                <a:ln>
                  <a:noFill/>
                </a:ln>
                <a:solidFill>
                  <a:schemeClr val="tx1"/>
                </a:solidFill>
                <a:effectLst/>
                <a:latin typeface="Segoe UI Black" panose="020B0A02040204020203" pitchFamily="34" charset="0"/>
                <a:ea typeface="Segoe UI Black" panose="020B0A02040204020203" pitchFamily="34" charset="0"/>
              </a:rPr>
              <a:t>66.7% of competitors are concentrated in the mid-range segment, </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2000" b="0" i="0" u="none" strike="noStrike" cap="none" normalizeH="0" baseline="0" dirty="0">
                <a:ln>
                  <a:noFill/>
                </a:ln>
                <a:solidFill>
                  <a:schemeClr val="tx1"/>
                </a:solidFill>
                <a:effectLst/>
                <a:latin typeface="Segoe UI Black" panose="020B0A02040204020203" pitchFamily="34" charset="0"/>
                <a:ea typeface="Segoe UI Black" panose="020B0A02040204020203" pitchFamily="34" charset="0"/>
              </a:rPr>
              <a:t>     indicating high saturation and intense competition.</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2000" b="0" i="0" u="none" strike="noStrike" cap="none" normalizeH="0" baseline="0" dirty="0">
              <a:ln>
                <a:noFill/>
              </a:ln>
              <a:solidFill>
                <a:schemeClr val="tx1"/>
              </a:solidFill>
              <a:effectLst/>
              <a:latin typeface="Segoe UI Black" panose="020B0A02040204020203" pitchFamily="34" charset="0"/>
              <a:ea typeface="Segoe UI Black" panose="020B0A02040204020203" pitchFamily="34" charset="0"/>
            </a:endParaRP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2000" b="0" i="0" u="none" strike="noStrike" cap="none" normalizeH="0" baseline="0" dirty="0">
                <a:ln>
                  <a:noFill/>
                </a:ln>
                <a:solidFill>
                  <a:schemeClr val="tx1"/>
                </a:solidFill>
                <a:effectLst/>
                <a:latin typeface="Segoe UI Black" panose="020B0A02040204020203" pitchFamily="34" charset="0"/>
                <a:ea typeface="Segoe UI Black" panose="020B0A02040204020203" pitchFamily="34" charset="0"/>
              </a:rPr>
              <a:t>Leading brands such as Honeywell, Philips, Xiaomi, Kubo, </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2000" b="0" i="0" u="none" strike="noStrike" cap="none" normalizeH="0" baseline="0" dirty="0">
                <a:ln>
                  <a:noFill/>
                </a:ln>
                <a:solidFill>
                  <a:schemeClr val="tx1"/>
                </a:solidFill>
                <a:effectLst/>
                <a:latin typeface="Segoe UI Black" panose="020B0A02040204020203" pitchFamily="34" charset="0"/>
                <a:ea typeface="Segoe UI Black" panose="020B0A02040204020203" pitchFamily="34" charset="0"/>
              </a:rPr>
              <a:t>    and Blueair compete primarily on CADR, coverage, and smart features.</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2000" b="0" i="0" u="none" strike="noStrike" cap="none" normalizeH="0" baseline="0" dirty="0">
              <a:ln>
                <a:noFill/>
              </a:ln>
              <a:solidFill>
                <a:schemeClr val="tx1"/>
              </a:solidFill>
              <a:effectLst/>
              <a:latin typeface="Segoe UI Black" panose="020B0A02040204020203" pitchFamily="34" charset="0"/>
              <a:ea typeface="Segoe UI Black" panose="020B0A02040204020203" pitchFamily="34" charset="0"/>
            </a:endParaRP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2000" b="0" i="0" u="none" strike="noStrike" cap="none" normalizeH="0" baseline="0" dirty="0">
                <a:ln>
                  <a:noFill/>
                </a:ln>
                <a:solidFill>
                  <a:schemeClr val="tx1"/>
                </a:solidFill>
                <a:effectLst/>
                <a:latin typeface="Segoe UI Black" panose="020B0A02040204020203" pitchFamily="34" charset="0"/>
                <a:ea typeface="Segoe UI Black" panose="020B0A02040204020203" pitchFamily="34" charset="0"/>
              </a:rPr>
              <a:t>HEPA-based filtration and PM2.5 targeting are now baseline expectations across all price tiers.</a:t>
            </a: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endParaRPr kumimoji="0" lang="en-US" altLang="en-US" sz="2000" b="0" i="0" u="none" strike="noStrike" cap="none" normalizeH="0" baseline="0" dirty="0">
              <a:ln>
                <a:noFill/>
              </a:ln>
              <a:solidFill>
                <a:schemeClr val="tx1"/>
              </a:solidFill>
              <a:effectLst/>
              <a:latin typeface="Segoe UI Black" panose="020B0A02040204020203" pitchFamily="34" charset="0"/>
              <a:ea typeface="Segoe UI Black" panose="020B0A02040204020203" pitchFamily="34" charset="0"/>
            </a:endParaRP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2000" b="0" i="0" u="none" strike="noStrike" cap="none" normalizeH="0" baseline="0" dirty="0">
                <a:ln>
                  <a:noFill/>
                </a:ln>
                <a:solidFill>
                  <a:schemeClr val="tx1"/>
                </a:solidFill>
                <a:effectLst/>
                <a:latin typeface="Segoe UI Black" panose="020B0A02040204020203" pitchFamily="34" charset="0"/>
                <a:ea typeface="Segoe UI Black" panose="020B0A02040204020203" pitchFamily="34" charset="0"/>
              </a:rPr>
              <a:t>Smart features such as app control, real-time AQI display, and voice integration are becoming standard in mid and premium segments.</a:t>
            </a: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endParaRPr kumimoji="0" lang="en-US" altLang="en-US" sz="2000" b="0" i="0" u="none" strike="noStrike" cap="none" normalizeH="0" baseline="0" dirty="0">
              <a:ln>
                <a:noFill/>
              </a:ln>
              <a:solidFill>
                <a:schemeClr val="tx1"/>
              </a:solidFill>
              <a:effectLst/>
              <a:latin typeface="Segoe UI Black" panose="020B0A02040204020203" pitchFamily="34" charset="0"/>
              <a:ea typeface="Segoe UI Black" panose="020B0A02040204020203" pitchFamily="34" charset="0"/>
            </a:endParaRP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2000" b="0" i="0" u="none" strike="noStrike" cap="none" normalizeH="0" baseline="0" dirty="0">
                <a:ln>
                  <a:noFill/>
                </a:ln>
                <a:solidFill>
                  <a:schemeClr val="tx1"/>
                </a:solidFill>
                <a:effectLst/>
                <a:latin typeface="Segoe UI Black" panose="020B0A02040204020203" pitchFamily="34" charset="0"/>
                <a:ea typeface="Segoe UI Black" panose="020B0A02040204020203" pitchFamily="34" charset="0"/>
              </a:rPr>
              <a:t>Clear market gap exists in smart-enabled budget products and strong differentiation in Pollutants targeted and gas/formaldehyde-focused positioning.</a:t>
            </a:r>
          </a:p>
        </p:txBody>
      </p:sp>
    </p:spTree>
    <p:extLst>
      <p:ext uri="{BB962C8B-B14F-4D97-AF65-F5344CB8AC3E}">
        <p14:creationId xmlns:p14="http://schemas.microsoft.com/office/powerpoint/2010/main" val="181514388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05AA5E-183C-0B41-B986-F61B566CF954}"/>
              </a:ext>
            </a:extLst>
          </p:cNvPr>
          <p:cNvSpPr>
            <a:spLocks noGrp="1"/>
          </p:cNvSpPr>
          <p:nvPr>
            <p:ph type="title"/>
          </p:nvPr>
        </p:nvSpPr>
        <p:spPr/>
        <p:txBody>
          <a:bodyPr/>
          <a:lstStyle/>
          <a:p>
            <a:pPr algn="ctr"/>
            <a:r>
              <a:rPr lang="en-IN" u="sng" dirty="0">
                <a:solidFill>
                  <a:schemeClr val="bg1">
                    <a:lumMod val="50000"/>
                  </a:schemeClr>
                </a:solidFill>
                <a:latin typeface="Segoe UI Black" panose="020B0A02040204020203" pitchFamily="34" charset="0"/>
                <a:ea typeface="Segoe UI Black" panose="020B0A02040204020203" pitchFamily="34" charset="0"/>
              </a:rPr>
              <a:t>Market Analysis</a:t>
            </a:r>
          </a:p>
        </p:txBody>
      </p:sp>
      <p:sp>
        <p:nvSpPr>
          <p:cNvPr id="4" name="Rectangle 1">
            <a:extLst>
              <a:ext uri="{FF2B5EF4-FFF2-40B4-BE49-F238E27FC236}">
                <a16:creationId xmlns:a16="http://schemas.microsoft.com/office/drawing/2014/main" id="{95B2808E-9E95-99E4-807B-B6B99BFF99A4}"/>
              </a:ext>
            </a:extLst>
          </p:cNvPr>
          <p:cNvSpPr>
            <a:spLocks noGrp="1" noChangeArrowheads="1"/>
          </p:cNvSpPr>
          <p:nvPr>
            <p:ph idx="1"/>
          </p:nvPr>
        </p:nvSpPr>
        <p:spPr bwMode="auto">
          <a:xfrm>
            <a:off x="838199" y="1739140"/>
            <a:ext cx="10771909" cy="45243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R="0" lvl="0" algn="ctr"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1600" b="0" i="0" u="none" strike="noStrike" cap="none" normalizeH="0" baseline="0" dirty="0">
                <a:ln>
                  <a:noFill/>
                </a:ln>
                <a:solidFill>
                  <a:schemeClr val="tx1"/>
                </a:solidFill>
                <a:effectLst/>
                <a:latin typeface="Segoe UI Black" panose="020B0A02040204020203" pitchFamily="34" charset="0"/>
                <a:ea typeface="Segoe UI Black" panose="020B0A02040204020203" pitchFamily="34" charset="0"/>
              </a:rPr>
              <a:t>Top recurring pollutants (metro + non-metro): </a:t>
            </a:r>
            <a:r>
              <a:rPr kumimoji="0" lang="en-US" altLang="en-US" sz="1600" b="1" i="0" u="none" strike="noStrike" cap="none" normalizeH="0" baseline="0" dirty="0">
                <a:ln>
                  <a:noFill/>
                </a:ln>
                <a:solidFill>
                  <a:schemeClr val="tx1"/>
                </a:solidFill>
                <a:effectLst/>
                <a:latin typeface="Segoe UI Black" panose="020B0A02040204020203" pitchFamily="34" charset="0"/>
                <a:ea typeface="Segoe UI Black" panose="020B0A02040204020203" pitchFamily="34" charset="0"/>
              </a:rPr>
              <a:t>PM2.5, PM10, O₃, NO₂, CO</a:t>
            </a:r>
          </a:p>
          <a:p>
            <a:pPr marR="0" lvl="0" algn="ctr"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endParaRPr kumimoji="0" lang="en-US" altLang="en-US" sz="1600" b="0" i="0" u="none" strike="noStrike" cap="none" normalizeH="0" baseline="0" dirty="0">
              <a:ln>
                <a:noFill/>
              </a:ln>
              <a:solidFill>
                <a:schemeClr val="tx1"/>
              </a:solidFill>
              <a:effectLst/>
              <a:latin typeface="Segoe UI Black" panose="020B0A02040204020203" pitchFamily="34" charset="0"/>
              <a:ea typeface="Segoe UI Black" panose="020B0A02040204020203" pitchFamily="34" charset="0"/>
            </a:endParaRPr>
          </a:p>
          <a:p>
            <a:pPr marR="0" lvl="0" algn="ctr"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1600" b="0" i="0" u="none" strike="noStrike" cap="none" normalizeH="0" baseline="0" dirty="0">
                <a:ln>
                  <a:noFill/>
                </a:ln>
                <a:solidFill>
                  <a:schemeClr val="tx1"/>
                </a:solidFill>
                <a:effectLst/>
                <a:latin typeface="Segoe UI Black" panose="020B0A02040204020203" pitchFamily="34" charset="0"/>
                <a:ea typeface="Segoe UI Black" panose="020B0A02040204020203" pitchFamily="34" charset="0"/>
              </a:rPr>
              <a:t>High AQI (≥100) recorded in - Metro: Delhi, West Bengal, Maharashtra</a:t>
            </a:r>
          </a:p>
          <a:p>
            <a:pPr marR="0" lvl="0" algn="ctr"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endParaRPr kumimoji="0" lang="en-US" altLang="en-US" sz="1600" b="0" i="0" u="none" strike="noStrike" cap="none" normalizeH="0" baseline="0" dirty="0">
              <a:ln>
                <a:noFill/>
              </a:ln>
              <a:solidFill>
                <a:schemeClr val="tx1"/>
              </a:solidFill>
              <a:effectLst/>
              <a:latin typeface="Segoe UI Black" panose="020B0A02040204020203" pitchFamily="34" charset="0"/>
              <a:ea typeface="Segoe UI Black" panose="020B0A02040204020203" pitchFamily="34" charset="0"/>
            </a:endParaRPr>
          </a:p>
          <a:p>
            <a:pPr marR="0" lvl="0" algn="ctr"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1600" b="0" i="0" u="none" strike="noStrike" cap="none" normalizeH="0" baseline="0" dirty="0">
                <a:ln>
                  <a:noFill/>
                </a:ln>
                <a:solidFill>
                  <a:schemeClr val="tx1"/>
                </a:solidFill>
                <a:effectLst/>
                <a:latin typeface="Segoe UI Black" panose="020B0A02040204020203" pitchFamily="34" charset="0"/>
                <a:ea typeface="Segoe UI Black" panose="020B0A02040204020203" pitchFamily="34" charset="0"/>
              </a:rPr>
              <a:t>Non-metro - Bihar, Himachal Pradesh, Haryana, Jharkhand, Tripura</a:t>
            </a:r>
          </a:p>
          <a:p>
            <a:pPr marR="0" lvl="0" algn="ctr"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endParaRPr kumimoji="0" lang="en-US" altLang="en-US" sz="1600" b="0" i="0" u="none" strike="noStrike" cap="none" normalizeH="0" baseline="0" dirty="0">
              <a:ln>
                <a:noFill/>
              </a:ln>
              <a:solidFill>
                <a:schemeClr val="tx1"/>
              </a:solidFill>
              <a:effectLst/>
              <a:latin typeface="Segoe UI Black" panose="020B0A02040204020203" pitchFamily="34" charset="0"/>
              <a:ea typeface="Segoe UI Black" panose="020B0A02040204020203" pitchFamily="34" charset="0"/>
            </a:endParaRPr>
          </a:p>
          <a:p>
            <a:pPr marR="0" lvl="0" algn="ctr"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1600" b="0" i="0" u="none" strike="noStrike" cap="none" normalizeH="0" baseline="0" dirty="0">
                <a:ln>
                  <a:noFill/>
                </a:ln>
                <a:solidFill>
                  <a:schemeClr val="tx1"/>
                </a:solidFill>
                <a:effectLst/>
                <a:latin typeface="Segoe UI Black" panose="020B0A02040204020203" pitchFamily="34" charset="0"/>
                <a:ea typeface="Segoe UI Black" panose="020B0A02040204020203" pitchFamily="34" charset="0"/>
              </a:rPr>
              <a:t>PM2.5 targeted by 13 brands</a:t>
            </a:r>
          </a:p>
          <a:p>
            <a:pPr marR="0" lvl="0" algn="ctr"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endParaRPr kumimoji="0" lang="en-US" altLang="en-US" sz="1600" b="0" i="0" u="none" strike="noStrike" cap="none" normalizeH="0" baseline="0" dirty="0">
              <a:ln>
                <a:noFill/>
              </a:ln>
              <a:solidFill>
                <a:schemeClr val="tx1"/>
              </a:solidFill>
              <a:effectLst/>
              <a:latin typeface="Segoe UI Black" panose="020B0A02040204020203" pitchFamily="34" charset="0"/>
              <a:ea typeface="Segoe UI Black" panose="020B0A02040204020203" pitchFamily="34" charset="0"/>
            </a:endParaRPr>
          </a:p>
          <a:p>
            <a:pPr marR="0" lvl="0" algn="ctr"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1600" b="0" i="0" u="none" strike="noStrike" cap="none" normalizeH="0" baseline="0" dirty="0">
                <a:ln>
                  <a:noFill/>
                </a:ln>
                <a:solidFill>
                  <a:schemeClr val="tx1"/>
                </a:solidFill>
                <a:effectLst/>
                <a:latin typeface="Segoe UI Black" panose="020B0A02040204020203" pitchFamily="34" charset="0"/>
                <a:ea typeface="Segoe UI Black" panose="020B0A02040204020203" pitchFamily="34" charset="0"/>
              </a:rPr>
              <a:t>Viruses targeted by 25 brands</a:t>
            </a:r>
          </a:p>
          <a:p>
            <a:pPr marR="0" lvl="0" algn="ctr"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endParaRPr kumimoji="0" lang="en-US" altLang="en-US" sz="1600" b="0" i="0" u="none" strike="noStrike" cap="none" normalizeH="0" baseline="0" dirty="0">
              <a:ln>
                <a:noFill/>
              </a:ln>
              <a:solidFill>
                <a:schemeClr val="tx1"/>
              </a:solidFill>
              <a:effectLst/>
              <a:latin typeface="Segoe UI Black" panose="020B0A02040204020203" pitchFamily="34" charset="0"/>
              <a:ea typeface="Segoe UI Black" panose="020B0A02040204020203" pitchFamily="34" charset="0"/>
            </a:endParaRPr>
          </a:p>
          <a:p>
            <a:pPr marR="0" lvl="0" algn="ctr"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1600" b="0" i="0" u="none" strike="noStrike" cap="none" normalizeH="0" baseline="0" dirty="0">
                <a:ln>
                  <a:noFill/>
                </a:ln>
                <a:solidFill>
                  <a:schemeClr val="tx1"/>
                </a:solidFill>
                <a:effectLst/>
                <a:latin typeface="Segoe UI Black" panose="020B0A02040204020203" pitchFamily="34" charset="0"/>
                <a:ea typeface="Segoe UI Black" panose="020B0A02040204020203" pitchFamily="34" charset="0"/>
              </a:rPr>
              <a:t>VOCs targeted by 10 brands</a:t>
            </a:r>
          </a:p>
          <a:p>
            <a:pPr marR="0" lvl="0" algn="ctr"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endParaRPr kumimoji="0" lang="en-US" altLang="en-US" sz="1600" b="0" i="0" u="none" strike="noStrike" cap="none" normalizeH="0" baseline="0" dirty="0">
              <a:ln>
                <a:noFill/>
              </a:ln>
              <a:solidFill>
                <a:schemeClr val="tx1"/>
              </a:solidFill>
              <a:effectLst/>
              <a:latin typeface="Segoe UI Black" panose="020B0A02040204020203" pitchFamily="34" charset="0"/>
              <a:ea typeface="Segoe UI Black" panose="020B0A02040204020203" pitchFamily="34" charset="0"/>
            </a:endParaRPr>
          </a:p>
          <a:p>
            <a:pPr marR="0" lvl="0" algn="ctr"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1600" b="0" i="0" u="none" strike="noStrike" cap="none" normalizeH="0" baseline="0" dirty="0">
                <a:ln>
                  <a:noFill/>
                </a:ln>
                <a:solidFill>
                  <a:schemeClr val="tx1"/>
                </a:solidFill>
                <a:effectLst/>
                <a:latin typeface="Segoe UI Black" panose="020B0A02040204020203" pitchFamily="34" charset="0"/>
                <a:ea typeface="Segoe UI Black" panose="020B0A02040204020203" pitchFamily="34" charset="0"/>
              </a:rPr>
              <a:t>PM10 targeted by 4 brands</a:t>
            </a:r>
          </a:p>
          <a:p>
            <a:pPr marR="0" lvl="0" algn="ctr"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endParaRPr kumimoji="0" lang="en-US" altLang="en-US" sz="1600" b="0" i="0" u="none" strike="noStrike" cap="none" normalizeH="0" baseline="0" dirty="0">
              <a:ln>
                <a:noFill/>
              </a:ln>
              <a:solidFill>
                <a:schemeClr val="tx1"/>
              </a:solidFill>
              <a:effectLst/>
              <a:latin typeface="Segoe UI Black" panose="020B0A02040204020203" pitchFamily="34" charset="0"/>
              <a:ea typeface="Segoe UI Black" panose="020B0A02040204020203" pitchFamily="34" charset="0"/>
            </a:endParaRPr>
          </a:p>
          <a:p>
            <a:pPr marR="0" lvl="0" algn="ctr"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1600" b="0" i="0" u="none" strike="noStrike" cap="none" normalizeH="0" baseline="0" dirty="0">
                <a:ln>
                  <a:noFill/>
                </a:ln>
                <a:solidFill>
                  <a:schemeClr val="tx1"/>
                </a:solidFill>
                <a:effectLst/>
                <a:latin typeface="Segoe UI Black" panose="020B0A02040204020203" pitchFamily="34" charset="0"/>
                <a:ea typeface="Segoe UI Black" panose="020B0A02040204020203" pitchFamily="34" charset="0"/>
              </a:rPr>
              <a:t>O₃, NO₂, CO minimally addressed</a:t>
            </a:r>
          </a:p>
          <a:p>
            <a:pPr marR="0" lvl="0" algn="ctr"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endParaRPr kumimoji="0" lang="en-US" altLang="en-US" sz="1600" b="0" i="0" u="none" strike="noStrike" cap="none" normalizeH="0" baseline="0" dirty="0">
              <a:ln>
                <a:noFill/>
              </a:ln>
              <a:solidFill>
                <a:schemeClr val="tx1"/>
              </a:solidFill>
              <a:effectLst/>
              <a:latin typeface="Segoe UI Black" panose="020B0A02040204020203" pitchFamily="34" charset="0"/>
              <a:ea typeface="Segoe UI Black" panose="020B0A02040204020203" pitchFamily="34" charset="0"/>
            </a:endParaRPr>
          </a:p>
          <a:p>
            <a:pPr marR="0" lvl="0" algn="ctr"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1600" b="0" i="0" u="none" strike="noStrike" cap="none" normalizeH="0" baseline="0" dirty="0">
                <a:ln>
                  <a:noFill/>
                </a:ln>
                <a:solidFill>
                  <a:schemeClr val="tx1"/>
                </a:solidFill>
                <a:effectLst/>
                <a:latin typeface="Segoe UI Black" panose="020B0A02040204020203" pitchFamily="34" charset="0"/>
                <a:ea typeface="Segoe UI Black" panose="020B0A02040204020203" pitchFamily="34" charset="0"/>
              </a:rPr>
              <a:t>Clear gap between real pollution profile and brand positioning</a:t>
            </a:r>
          </a:p>
          <a:p>
            <a:pPr marR="0" lvl="0" algn="ctr"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endParaRPr kumimoji="0" lang="en-US" altLang="en-US" sz="1600" b="0" i="0" u="none" strike="noStrike" cap="none" normalizeH="0" baseline="0" dirty="0">
              <a:ln>
                <a:noFill/>
              </a:ln>
              <a:solidFill>
                <a:schemeClr val="tx1"/>
              </a:solidFill>
              <a:effectLst/>
              <a:latin typeface="Segoe UI Black" panose="020B0A02040204020203" pitchFamily="34" charset="0"/>
              <a:ea typeface="Segoe UI Black" panose="020B0A02040204020203" pitchFamily="34" charset="0"/>
            </a:endParaRPr>
          </a:p>
        </p:txBody>
      </p:sp>
    </p:spTree>
    <p:extLst>
      <p:ext uri="{BB962C8B-B14F-4D97-AF65-F5344CB8AC3E}">
        <p14:creationId xmlns:p14="http://schemas.microsoft.com/office/powerpoint/2010/main" val="37714897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a:extLst>
              <a:ext uri="{FF2B5EF4-FFF2-40B4-BE49-F238E27FC236}">
                <a16:creationId xmlns:a16="http://schemas.microsoft.com/office/drawing/2014/main" id="{F419CD88-FED6-0000-1BA2-B340999C9C9F}"/>
              </a:ext>
            </a:extLst>
          </p:cNvPr>
          <p:cNvSpPr>
            <a:spLocks noGrp="1" noChangeArrowheads="1"/>
          </p:cNvSpPr>
          <p:nvPr>
            <p:ph idx="1"/>
          </p:nvPr>
        </p:nvSpPr>
        <p:spPr bwMode="auto">
          <a:xfrm>
            <a:off x="533325" y="1720840"/>
            <a:ext cx="10908756" cy="34163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R="0" lvl="0" algn="ctr"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2400" b="0" i="0" u="none" strike="noStrike" cap="none" normalizeH="0" baseline="0" dirty="0">
                <a:ln>
                  <a:noFill/>
                </a:ln>
                <a:effectLst/>
                <a:latin typeface="Segoe UI Black" panose="020B0A02040204020203" pitchFamily="34" charset="0"/>
                <a:ea typeface="Segoe UI Black" panose="020B0A02040204020203" pitchFamily="34" charset="0"/>
              </a:rPr>
              <a:t>Opportunity to dominate gas filtration (O₃, NO₂, CO) segment</a:t>
            </a:r>
          </a:p>
          <a:p>
            <a:pPr marR="0" lvl="0" algn="ctr"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endParaRPr kumimoji="0" lang="en-US" altLang="en-US" sz="2400" b="0" i="0" u="none" strike="noStrike" cap="none" normalizeH="0" baseline="0" dirty="0">
              <a:ln>
                <a:noFill/>
              </a:ln>
              <a:effectLst/>
              <a:latin typeface="Segoe UI Black" panose="020B0A02040204020203" pitchFamily="34" charset="0"/>
              <a:ea typeface="Segoe UI Black" panose="020B0A02040204020203" pitchFamily="34" charset="0"/>
            </a:endParaRPr>
          </a:p>
          <a:p>
            <a:pPr marR="0" lvl="0" algn="ctr"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2400" b="0" i="0" u="none" strike="noStrike" cap="none" normalizeH="0" baseline="0" dirty="0">
                <a:ln>
                  <a:noFill/>
                </a:ln>
                <a:effectLst/>
                <a:latin typeface="Segoe UI Black" panose="020B0A02040204020203" pitchFamily="34" charset="0"/>
                <a:ea typeface="Segoe UI Black" panose="020B0A02040204020203" pitchFamily="34" charset="0"/>
              </a:rPr>
              <a:t>Strong positioning if product delivers - 100% focus on PM2.5 &amp; PM10</a:t>
            </a:r>
          </a:p>
          <a:p>
            <a:pPr marL="0" marR="0" lvl="0" indent="0" algn="ctr" defTabSz="914400" rtl="0" eaLnBrk="0" fontAlgn="base" latinLnBrk="0" hangingPunct="0">
              <a:lnSpc>
                <a:spcPct val="100000"/>
              </a:lnSpc>
              <a:spcBef>
                <a:spcPct val="0"/>
              </a:spcBef>
              <a:spcAft>
                <a:spcPct val="0"/>
              </a:spcAft>
              <a:buClrTx/>
              <a:buSzTx/>
              <a:buNone/>
              <a:tabLst/>
            </a:pPr>
            <a:r>
              <a:rPr kumimoji="0" lang="en-US" altLang="en-US" sz="2400" b="0" i="0" u="none" strike="noStrike" cap="none" normalizeH="0" baseline="0" dirty="0">
                <a:ln>
                  <a:noFill/>
                </a:ln>
                <a:effectLst/>
                <a:latin typeface="Segoe UI Black" panose="020B0A02040204020203" pitchFamily="34" charset="0"/>
                <a:ea typeface="Segoe UI Black" panose="020B0A02040204020203" pitchFamily="34" charset="0"/>
              </a:rPr>
              <a:t>    75% strength on O₃, NO₂, CO.</a:t>
            </a:r>
          </a:p>
          <a:p>
            <a:pPr marL="0" marR="0" lvl="0" indent="0" algn="ctr" defTabSz="914400" rtl="0" eaLnBrk="0" fontAlgn="base" latinLnBrk="0" hangingPunct="0">
              <a:lnSpc>
                <a:spcPct val="100000"/>
              </a:lnSpc>
              <a:spcBef>
                <a:spcPct val="0"/>
              </a:spcBef>
              <a:spcAft>
                <a:spcPct val="0"/>
              </a:spcAft>
              <a:buClrTx/>
              <a:buSzTx/>
              <a:buNone/>
              <a:tabLst/>
            </a:pPr>
            <a:endParaRPr kumimoji="0" lang="en-US" altLang="en-US" sz="2400" b="0" i="0" u="none" strike="noStrike" cap="none" normalizeH="0" baseline="0" dirty="0">
              <a:ln>
                <a:noFill/>
              </a:ln>
              <a:effectLst/>
              <a:latin typeface="Segoe UI Black" panose="020B0A02040204020203" pitchFamily="34" charset="0"/>
              <a:ea typeface="Segoe UI Black" panose="020B0A02040204020203" pitchFamily="34" charset="0"/>
            </a:endParaRPr>
          </a:p>
          <a:p>
            <a:pPr marR="0" lvl="0" algn="ctr"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2400" b="0" i="0" u="none" strike="noStrike" cap="none" normalizeH="0" baseline="0" dirty="0">
                <a:ln>
                  <a:noFill/>
                </a:ln>
                <a:effectLst/>
                <a:latin typeface="Segoe UI Black" panose="020B0A02040204020203" pitchFamily="34" charset="0"/>
                <a:ea typeface="Segoe UI Black" panose="020B0A02040204020203" pitchFamily="34" charset="0"/>
              </a:rPr>
              <a:t>25–50% coverage on VOCs, bacteria, allergens.</a:t>
            </a:r>
          </a:p>
          <a:p>
            <a:pPr marR="0" lvl="0" algn="ctr"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endParaRPr kumimoji="0" lang="en-US" altLang="en-US" sz="2400" b="0" i="0" u="none" strike="noStrike" cap="none" normalizeH="0" baseline="0" dirty="0">
              <a:ln>
                <a:noFill/>
              </a:ln>
              <a:effectLst/>
              <a:latin typeface="Segoe UI Black" panose="020B0A02040204020203" pitchFamily="34" charset="0"/>
              <a:ea typeface="Segoe UI Black" panose="020B0A02040204020203" pitchFamily="34" charset="0"/>
            </a:endParaRPr>
          </a:p>
          <a:p>
            <a:pPr marR="0" lvl="0" algn="ctr"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2400" b="0" i="0" u="none" strike="noStrike" cap="none" normalizeH="0" baseline="0" dirty="0">
                <a:ln>
                  <a:noFill/>
                </a:ln>
                <a:solidFill>
                  <a:srgbClr val="00B050"/>
                </a:solidFill>
                <a:effectLst/>
                <a:latin typeface="Segoe UI Black" panose="020B0A02040204020203" pitchFamily="34" charset="0"/>
                <a:ea typeface="Segoe UI Black" panose="020B0A02040204020203" pitchFamily="34" charset="0"/>
              </a:rPr>
              <a:t>Strategic positioning: </a:t>
            </a:r>
            <a:r>
              <a:rPr kumimoji="0" lang="en-US" altLang="en-US" sz="2400" b="1" i="0" u="none" strike="noStrike" cap="none" normalizeH="0" baseline="0" dirty="0">
                <a:ln>
                  <a:noFill/>
                </a:ln>
                <a:solidFill>
                  <a:srgbClr val="00B050"/>
                </a:solidFill>
                <a:effectLst/>
                <a:latin typeface="Segoe UI Black" panose="020B0A02040204020203" pitchFamily="34" charset="0"/>
                <a:ea typeface="Segoe UI Black" panose="020B0A02040204020203" pitchFamily="34" charset="0"/>
              </a:rPr>
              <a:t>Complete urban pollution defense system</a:t>
            </a:r>
          </a:p>
          <a:p>
            <a:pPr marR="0" lvl="0" algn="ctr"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endParaRPr kumimoji="0" lang="en-US" altLang="en-US" sz="2400" b="0" i="0" u="none" strike="noStrike" cap="none" normalizeH="0" baseline="0" dirty="0">
              <a:ln>
                <a:noFill/>
              </a:ln>
              <a:effectLst/>
              <a:latin typeface="Segoe UI Black" panose="020B0A02040204020203" pitchFamily="34" charset="0"/>
              <a:ea typeface="Segoe UI Black" panose="020B0A02040204020203" pitchFamily="34" charset="0"/>
            </a:endParaRPr>
          </a:p>
        </p:txBody>
      </p:sp>
    </p:spTree>
    <p:extLst>
      <p:ext uri="{BB962C8B-B14F-4D97-AF65-F5344CB8AC3E}">
        <p14:creationId xmlns:p14="http://schemas.microsoft.com/office/powerpoint/2010/main" val="377946718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DEB116-6928-24D6-8834-58D45E89A813}"/>
              </a:ext>
            </a:extLst>
          </p:cNvPr>
          <p:cNvSpPr>
            <a:spLocks noGrp="1"/>
          </p:cNvSpPr>
          <p:nvPr>
            <p:ph type="title"/>
          </p:nvPr>
        </p:nvSpPr>
        <p:spPr/>
        <p:txBody>
          <a:bodyPr/>
          <a:lstStyle/>
          <a:p>
            <a:pPr algn="ctr"/>
            <a:r>
              <a:rPr lang="en-IN" b="1" u="sng" dirty="0">
                <a:solidFill>
                  <a:srgbClr val="00B050"/>
                </a:solidFill>
                <a:latin typeface="Segoe UI Black" panose="020B0A02040204020203" pitchFamily="34" charset="0"/>
                <a:ea typeface="Segoe UI Black" panose="020B0A02040204020203" pitchFamily="34" charset="0"/>
              </a:rPr>
              <a:t>Final Recommendation</a:t>
            </a:r>
          </a:p>
        </p:txBody>
      </p:sp>
      <p:sp>
        <p:nvSpPr>
          <p:cNvPr id="3" name="Content Placeholder 2">
            <a:extLst>
              <a:ext uri="{FF2B5EF4-FFF2-40B4-BE49-F238E27FC236}">
                <a16:creationId xmlns:a16="http://schemas.microsoft.com/office/drawing/2014/main" id="{F57FA0D5-B240-8839-7A86-4A635630B8C5}"/>
              </a:ext>
            </a:extLst>
          </p:cNvPr>
          <p:cNvSpPr>
            <a:spLocks noGrp="1"/>
          </p:cNvSpPr>
          <p:nvPr>
            <p:ph sz="half" idx="1"/>
          </p:nvPr>
        </p:nvSpPr>
        <p:spPr>
          <a:xfrm>
            <a:off x="600364" y="1901320"/>
            <a:ext cx="3783444" cy="1924339"/>
          </a:xfrm>
        </p:spPr>
        <p:txBody>
          <a:bodyPr>
            <a:normAutofit/>
          </a:bodyPr>
          <a:lstStyle/>
          <a:p>
            <a:pPr marL="0" indent="0" algn="ctr">
              <a:buNone/>
            </a:pPr>
            <a:r>
              <a:rPr lang="en-IN" sz="1100" b="1" u="sng" dirty="0">
                <a:solidFill>
                  <a:srgbClr val="00B050"/>
                </a:solidFill>
                <a:latin typeface="Segoe UI Black" panose="020B0A02040204020203" pitchFamily="34" charset="0"/>
                <a:ea typeface="Segoe UI Black" panose="020B0A02040204020203" pitchFamily="34" charset="0"/>
              </a:rPr>
              <a:t>Pollutant Focus</a:t>
            </a:r>
          </a:p>
          <a:p>
            <a:r>
              <a:rPr lang="en-IN" sz="1100" dirty="0">
                <a:latin typeface="Segoe UI Black" panose="020B0A02040204020203" pitchFamily="34" charset="0"/>
                <a:ea typeface="Segoe UI Black" panose="020B0A02040204020203" pitchFamily="34" charset="0"/>
              </a:rPr>
              <a:t>Strong concentration on </a:t>
            </a:r>
            <a:r>
              <a:rPr lang="en-IN" sz="1100" b="1" dirty="0">
                <a:latin typeface="Segoe UI Black" panose="020B0A02040204020203" pitchFamily="34" charset="0"/>
                <a:ea typeface="Segoe UI Black" panose="020B0A02040204020203" pitchFamily="34" charset="0"/>
              </a:rPr>
              <a:t>PM2.5, PM10, O₃, NO₂, CO</a:t>
            </a:r>
            <a:endParaRPr lang="en-IN" sz="1100" dirty="0">
              <a:latin typeface="Segoe UI Black" panose="020B0A02040204020203" pitchFamily="34" charset="0"/>
              <a:ea typeface="Segoe UI Black" panose="020B0A02040204020203" pitchFamily="34" charset="0"/>
            </a:endParaRPr>
          </a:p>
          <a:p>
            <a:r>
              <a:rPr lang="en-IN" sz="1100" dirty="0">
                <a:latin typeface="Segoe UI Black" panose="020B0A02040204020203" pitchFamily="34" charset="0"/>
                <a:ea typeface="Segoe UI Black" panose="020B0A02040204020203" pitchFamily="34" charset="0"/>
              </a:rPr>
              <a:t>Differentiate by highlighting </a:t>
            </a:r>
            <a:r>
              <a:rPr lang="en-IN" sz="1100" b="1" dirty="0">
                <a:latin typeface="Segoe UI Black" panose="020B0A02040204020203" pitchFamily="34" charset="0"/>
                <a:ea typeface="Segoe UI Black" panose="020B0A02040204020203" pitchFamily="34" charset="0"/>
              </a:rPr>
              <a:t>gas pollutant removal (O₃, NO₂, CO)</a:t>
            </a:r>
            <a:r>
              <a:rPr lang="en-IN" sz="1100" dirty="0">
                <a:latin typeface="Segoe UI Black" panose="020B0A02040204020203" pitchFamily="34" charset="0"/>
                <a:ea typeface="Segoe UI Black" panose="020B0A02040204020203" pitchFamily="34" charset="0"/>
              </a:rPr>
              <a:t>  currently under-addressed</a:t>
            </a:r>
          </a:p>
          <a:p>
            <a:r>
              <a:rPr lang="en-IN" sz="1100" dirty="0">
                <a:latin typeface="Segoe UI Black" panose="020B0A02040204020203" pitchFamily="34" charset="0"/>
                <a:ea typeface="Segoe UI Black" panose="020B0A02040204020203" pitchFamily="34" charset="0"/>
              </a:rPr>
              <a:t>Maintain secondary coverage for VOCs, bacteria, allergens</a:t>
            </a:r>
          </a:p>
          <a:p>
            <a:endParaRPr lang="en-IN" dirty="0"/>
          </a:p>
        </p:txBody>
      </p:sp>
      <p:sp>
        <p:nvSpPr>
          <p:cNvPr id="4" name="Content Placeholder 3">
            <a:extLst>
              <a:ext uri="{FF2B5EF4-FFF2-40B4-BE49-F238E27FC236}">
                <a16:creationId xmlns:a16="http://schemas.microsoft.com/office/drawing/2014/main" id="{8D2F8628-3A16-454E-4514-75A37AE1274F}"/>
              </a:ext>
            </a:extLst>
          </p:cNvPr>
          <p:cNvSpPr>
            <a:spLocks noGrp="1"/>
          </p:cNvSpPr>
          <p:nvPr>
            <p:ph sz="half" idx="2"/>
          </p:nvPr>
        </p:nvSpPr>
        <p:spPr>
          <a:xfrm>
            <a:off x="4383808" y="1825625"/>
            <a:ext cx="3639127" cy="2210666"/>
          </a:xfrm>
        </p:spPr>
        <p:txBody>
          <a:bodyPr>
            <a:normAutofit/>
          </a:bodyPr>
          <a:lstStyle/>
          <a:p>
            <a:pPr marL="0" indent="0" algn="ctr">
              <a:buNone/>
            </a:pPr>
            <a:r>
              <a:rPr lang="en-IN" sz="1100" b="1" u="sng" dirty="0">
                <a:solidFill>
                  <a:srgbClr val="00B050"/>
                </a:solidFill>
                <a:latin typeface="Segoe UI Black" panose="020B0A02040204020203" pitchFamily="34" charset="0"/>
                <a:ea typeface="Segoe UI Black" panose="020B0A02040204020203" pitchFamily="34" charset="0"/>
              </a:rPr>
              <a:t>Price &amp; Performance Positioning</a:t>
            </a:r>
          </a:p>
          <a:p>
            <a:r>
              <a:rPr lang="en-IN" sz="1100" dirty="0">
                <a:latin typeface="Segoe UI Black" panose="020B0A02040204020203" pitchFamily="34" charset="0"/>
                <a:ea typeface="Segoe UI Black" panose="020B0A02040204020203" pitchFamily="34" charset="0"/>
              </a:rPr>
              <a:t>Focus on </a:t>
            </a:r>
            <a:r>
              <a:rPr lang="en-IN" sz="1100" b="1" dirty="0">
                <a:latin typeface="Segoe UI Black" panose="020B0A02040204020203" pitchFamily="34" charset="0"/>
                <a:ea typeface="Segoe UI Black" panose="020B0A02040204020203" pitchFamily="34" charset="0"/>
              </a:rPr>
              <a:t>₹18,000–₹25,000 mid-range segment</a:t>
            </a:r>
            <a:r>
              <a:rPr lang="en-IN" sz="1100" dirty="0">
                <a:latin typeface="Segoe UI Black" panose="020B0A02040204020203" pitchFamily="34" charset="0"/>
                <a:ea typeface="Segoe UI Black" panose="020B0A02040204020203" pitchFamily="34" charset="0"/>
              </a:rPr>
              <a:t> (largest competitive cluster)</a:t>
            </a:r>
          </a:p>
          <a:p>
            <a:r>
              <a:rPr lang="en-IN" sz="1100" dirty="0">
                <a:latin typeface="Segoe UI Black" panose="020B0A02040204020203" pitchFamily="34" charset="0"/>
                <a:ea typeface="Segoe UI Black" panose="020B0A02040204020203" pitchFamily="34" charset="0"/>
              </a:rPr>
              <a:t>Target </a:t>
            </a:r>
            <a:r>
              <a:rPr lang="en-IN" sz="1100" b="1" dirty="0">
                <a:latin typeface="Segoe UI Black" panose="020B0A02040204020203" pitchFamily="34" charset="0"/>
                <a:ea typeface="Segoe UI Black" panose="020B0A02040204020203" pitchFamily="34" charset="0"/>
              </a:rPr>
              <a:t>CADR: 450–550</a:t>
            </a:r>
            <a:endParaRPr lang="en-IN" sz="1100" dirty="0">
              <a:latin typeface="Segoe UI Black" panose="020B0A02040204020203" pitchFamily="34" charset="0"/>
              <a:ea typeface="Segoe UI Black" panose="020B0A02040204020203" pitchFamily="34" charset="0"/>
            </a:endParaRPr>
          </a:p>
          <a:p>
            <a:r>
              <a:rPr lang="en-IN" sz="1100" dirty="0">
                <a:latin typeface="Segoe UI Black" panose="020B0A02040204020203" pitchFamily="34" charset="0"/>
                <a:ea typeface="Segoe UI Black" panose="020B0A02040204020203" pitchFamily="34" charset="0"/>
              </a:rPr>
              <a:t>Coverage area: </a:t>
            </a:r>
            <a:r>
              <a:rPr lang="en-IN" sz="1100" b="1" dirty="0">
                <a:latin typeface="Segoe UI Black" panose="020B0A02040204020203" pitchFamily="34" charset="0"/>
                <a:ea typeface="Segoe UI Black" panose="020B0A02040204020203" pitchFamily="34" charset="0"/>
              </a:rPr>
              <a:t>500–600 sq. ft</a:t>
            </a:r>
            <a:endParaRPr lang="en-IN" sz="1100" dirty="0">
              <a:latin typeface="Segoe UI Black" panose="020B0A02040204020203" pitchFamily="34" charset="0"/>
              <a:ea typeface="Segoe UI Black" panose="020B0A02040204020203" pitchFamily="34" charset="0"/>
            </a:endParaRPr>
          </a:p>
          <a:p>
            <a:r>
              <a:rPr lang="en-IN" sz="1100" dirty="0">
                <a:latin typeface="Segoe UI Black" panose="020B0A02040204020203" pitchFamily="34" charset="0"/>
                <a:ea typeface="Segoe UI Black" panose="020B0A02040204020203" pitchFamily="34" charset="0"/>
              </a:rPr>
              <a:t>Compete directly in performance, outperform in filtration depth</a:t>
            </a:r>
          </a:p>
          <a:p>
            <a:endParaRPr lang="en-IN" sz="1100" dirty="0">
              <a:latin typeface="Segoe UI Black" panose="020B0A02040204020203" pitchFamily="34" charset="0"/>
              <a:ea typeface="Segoe UI Black" panose="020B0A02040204020203" pitchFamily="34" charset="0"/>
            </a:endParaRPr>
          </a:p>
        </p:txBody>
      </p:sp>
      <p:sp>
        <p:nvSpPr>
          <p:cNvPr id="5" name="Content Placeholder 3">
            <a:extLst>
              <a:ext uri="{FF2B5EF4-FFF2-40B4-BE49-F238E27FC236}">
                <a16:creationId xmlns:a16="http://schemas.microsoft.com/office/drawing/2014/main" id="{C4DCDA72-D666-C47F-EFD5-FDED2A31925C}"/>
              </a:ext>
            </a:extLst>
          </p:cNvPr>
          <p:cNvSpPr txBox="1">
            <a:spLocks/>
          </p:cNvSpPr>
          <p:nvPr/>
        </p:nvSpPr>
        <p:spPr>
          <a:xfrm>
            <a:off x="8598334" y="1825625"/>
            <a:ext cx="2614612" cy="466725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IN" sz="1100" b="1" u="sng" dirty="0">
                <a:solidFill>
                  <a:srgbClr val="00B050"/>
                </a:solidFill>
                <a:latin typeface="Segoe UI Black" panose="020B0A02040204020203" pitchFamily="34" charset="0"/>
                <a:ea typeface="Segoe UI Black" panose="020B0A02040204020203" pitchFamily="34" charset="0"/>
              </a:rPr>
              <a:t> Smart Feature Differentiation</a:t>
            </a:r>
          </a:p>
          <a:p>
            <a:pPr marL="0" indent="0" algn="ctr">
              <a:buNone/>
            </a:pPr>
            <a:endParaRPr lang="en-IN" sz="1100" b="1" u="sng" dirty="0">
              <a:latin typeface="Segoe UI Black" panose="020B0A02040204020203" pitchFamily="34" charset="0"/>
              <a:ea typeface="Segoe UI Black" panose="020B0A02040204020203" pitchFamily="34" charset="0"/>
            </a:endParaRPr>
          </a:p>
          <a:p>
            <a:r>
              <a:rPr lang="en-IN" sz="1100" dirty="0">
                <a:latin typeface="Segoe UI Black" panose="020B0A02040204020203" pitchFamily="34" charset="0"/>
                <a:ea typeface="Segoe UI Black" panose="020B0A02040204020203" pitchFamily="34" charset="0"/>
              </a:rPr>
              <a:t>Most competitors already offer: Alexa / Google integration</a:t>
            </a:r>
          </a:p>
          <a:p>
            <a:r>
              <a:rPr lang="en-IN" sz="1100" dirty="0">
                <a:latin typeface="Segoe UI Black" panose="020B0A02040204020203" pitchFamily="34" charset="0"/>
                <a:ea typeface="Segoe UI Black" panose="020B0A02040204020203" pitchFamily="34" charset="0"/>
              </a:rPr>
              <a:t>App control</a:t>
            </a:r>
          </a:p>
          <a:p>
            <a:r>
              <a:rPr lang="en-IN" sz="1100" dirty="0">
                <a:latin typeface="Segoe UI Black" panose="020B0A02040204020203" pitchFamily="34" charset="0"/>
                <a:ea typeface="Segoe UI Black" panose="020B0A02040204020203" pitchFamily="34" charset="0"/>
              </a:rPr>
              <a:t>Real-time AQI</a:t>
            </a:r>
          </a:p>
          <a:p>
            <a:r>
              <a:rPr lang="en-IN" sz="1100" dirty="0">
                <a:latin typeface="Segoe UI Black" panose="020B0A02040204020203" pitchFamily="34" charset="0"/>
                <a:ea typeface="Segoe UI Black" panose="020B0A02040204020203" pitchFamily="34" charset="0"/>
              </a:rPr>
              <a:t>Auto &amp; Sleep mode</a:t>
            </a:r>
          </a:p>
          <a:p>
            <a:pPr marL="0" indent="0" algn="ctr">
              <a:buNone/>
            </a:pPr>
            <a:endParaRPr lang="en-IN" sz="1100" b="1" dirty="0">
              <a:latin typeface="Segoe UI Black" panose="020B0A02040204020203" pitchFamily="34" charset="0"/>
              <a:ea typeface="Segoe UI Black" panose="020B0A02040204020203" pitchFamily="34" charset="0"/>
            </a:endParaRPr>
          </a:p>
          <a:p>
            <a:pPr marL="0" indent="0" algn="ctr">
              <a:buNone/>
            </a:pPr>
            <a:r>
              <a:rPr lang="en-IN" sz="1100" b="1" u="sng" dirty="0">
                <a:solidFill>
                  <a:srgbClr val="00B050"/>
                </a:solidFill>
                <a:latin typeface="Segoe UI Black" panose="020B0A02040204020203" pitchFamily="34" charset="0"/>
                <a:ea typeface="Segoe UI Black" panose="020B0A02040204020203" pitchFamily="34" charset="0"/>
              </a:rPr>
              <a:t>Upgrade Strategy</a:t>
            </a:r>
            <a:endParaRPr lang="en-IN" sz="1100" u="sng" dirty="0">
              <a:solidFill>
                <a:srgbClr val="00B050"/>
              </a:solidFill>
              <a:latin typeface="Segoe UI Black" panose="020B0A02040204020203" pitchFamily="34" charset="0"/>
              <a:ea typeface="Segoe UI Black" panose="020B0A02040204020203" pitchFamily="34" charset="0"/>
            </a:endParaRPr>
          </a:p>
          <a:p>
            <a:r>
              <a:rPr lang="en-IN" sz="1100" dirty="0">
                <a:latin typeface="Segoe UI Black" panose="020B0A02040204020203" pitchFamily="34" charset="0"/>
                <a:ea typeface="Segoe UI Black" panose="020B0A02040204020203" pitchFamily="34" charset="0"/>
              </a:rPr>
              <a:t>Add AI-driven pollution prediction</a:t>
            </a:r>
          </a:p>
          <a:p>
            <a:r>
              <a:rPr lang="en-IN" sz="1100" dirty="0">
                <a:latin typeface="Segoe UI Black" panose="020B0A02040204020203" pitchFamily="34" charset="0"/>
                <a:ea typeface="Segoe UI Black" panose="020B0A02040204020203" pitchFamily="34" charset="0"/>
              </a:rPr>
              <a:t>City-based AQI alerts</a:t>
            </a:r>
          </a:p>
          <a:p>
            <a:r>
              <a:rPr lang="en-IN" sz="1100" dirty="0">
                <a:latin typeface="Segoe UI Black" panose="020B0A02040204020203" pitchFamily="34" charset="0"/>
                <a:ea typeface="Segoe UI Black" panose="020B0A02040204020203" pitchFamily="34" charset="0"/>
              </a:rPr>
              <a:t>Intelligent filter life optimization</a:t>
            </a:r>
          </a:p>
          <a:p>
            <a:r>
              <a:rPr lang="en-IN" sz="1100" dirty="0">
                <a:latin typeface="Segoe UI Black" panose="020B0A02040204020203" pitchFamily="34" charset="0"/>
                <a:ea typeface="Segoe UI Black" panose="020B0A02040204020203" pitchFamily="34" charset="0"/>
              </a:rPr>
              <a:t>Data-driven purification modes</a:t>
            </a:r>
          </a:p>
          <a:p>
            <a:endParaRPr lang="en-IN" sz="1100" dirty="0">
              <a:latin typeface="Segoe UI Black" panose="020B0A02040204020203" pitchFamily="34" charset="0"/>
              <a:ea typeface="Segoe UI Black" panose="020B0A02040204020203" pitchFamily="34" charset="0"/>
            </a:endParaRPr>
          </a:p>
        </p:txBody>
      </p:sp>
      <p:sp>
        <p:nvSpPr>
          <p:cNvPr id="6" name="Content Placeholder 5">
            <a:extLst>
              <a:ext uri="{FF2B5EF4-FFF2-40B4-BE49-F238E27FC236}">
                <a16:creationId xmlns:a16="http://schemas.microsoft.com/office/drawing/2014/main" id="{0A252C00-F6E8-CA5E-02B9-B7E9234F4312}"/>
              </a:ext>
            </a:extLst>
          </p:cNvPr>
          <p:cNvSpPr txBox="1">
            <a:spLocks/>
          </p:cNvSpPr>
          <p:nvPr/>
        </p:nvSpPr>
        <p:spPr>
          <a:xfrm>
            <a:off x="600364" y="3978997"/>
            <a:ext cx="3783444" cy="2618076"/>
          </a:xfrm>
          <a:prstGeom prst="rect">
            <a:avLst/>
          </a:prstGeom>
        </p:spPr>
        <p:txBody>
          <a:bodyPr>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IN" sz="1100" b="1" u="sng" dirty="0">
                <a:solidFill>
                  <a:srgbClr val="00B050"/>
                </a:solidFill>
                <a:latin typeface="Segoe UI Black" panose="020B0A02040204020203" pitchFamily="34" charset="0"/>
                <a:ea typeface="Segoe UI Black" panose="020B0A02040204020203" pitchFamily="34" charset="0"/>
              </a:rPr>
              <a:t>Geographic Focus Strategy</a:t>
            </a:r>
          </a:p>
          <a:p>
            <a:r>
              <a:rPr lang="en-IN" sz="1100" dirty="0">
                <a:latin typeface="Segoe UI Black" panose="020B0A02040204020203" pitchFamily="34" charset="0"/>
                <a:ea typeface="Segoe UI Black" panose="020B0A02040204020203" pitchFamily="34" charset="0"/>
              </a:rPr>
              <a:t>Target both metro &amp; non-metro high AQI regions</a:t>
            </a:r>
          </a:p>
          <a:p>
            <a:r>
              <a:rPr lang="en-IN" sz="1100" dirty="0">
                <a:latin typeface="Segoe UI Black" panose="020B0A02040204020203" pitchFamily="34" charset="0"/>
                <a:ea typeface="Segoe UI Black" panose="020B0A02040204020203" pitchFamily="34" charset="0"/>
              </a:rPr>
              <a:t>Metro focus: Bengaluru, Mumbai, Delhi</a:t>
            </a:r>
          </a:p>
          <a:p>
            <a:r>
              <a:rPr lang="en-IN" sz="1100" dirty="0">
                <a:latin typeface="Segoe UI Black" panose="020B0A02040204020203" pitchFamily="34" charset="0"/>
                <a:ea typeface="Segoe UI Black" panose="020B0A02040204020203" pitchFamily="34" charset="0"/>
              </a:rPr>
              <a:t>North-East &amp; high-risk non-metro clusters</a:t>
            </a:r>
          </a:p>
          <a:p>
            <a:r>
              <a:rPr lang="en-IN" sz="1100" dirty="0">
                <a:latin typeface="Segoe UI Black" panose="020B0A02040204020203" pitchFamily="34" charset="0"/>
                <a:ea typeface="Segoe UI Black" panose="020B0A02040204020203" pitchFamily="34" charset="0"/>
              </a:rPr>
              <a:t>South Indian pollution-prone cities(Telangana, Andra Pradesh, Coimbatore, Chennai etc)</a:t>
            </a:r>
          </a:p>
          <a:p>
            <a:r>
              <a:rPr lang="en-IN" sz="1100" dirty="0">
                <a:latin typeface="Segoe UI Black" panose="020B0A02040204020203" pitchFamily="34" charset="0"/>
                <a:ea typeface="Segoe UI Black" panose="020B0A02040204020203" pitchFamily="34" charset="0"/>
              </a:rPr>
              <a:t>Market messaging should highlight : City-wise AQI trends.</a:t>
            </a:r>
          </a:p>
          <a:p>
            <a:r>
              <a:rPr lang="en-IN" sz="1100" dirty="0">
                <a:latin typeface="Segoe UI Black" panose="020B0A02040204020203" pitchFamily="34" charset="0"/>
                <a:ea typeface="Segoe UI Black" panose="020B0A02040204020203" pitchFamily="34" charset="0"/>
              </a:rPr>
              <a:t>Local pollutant dominance</a:t>
            </a:r>
          </a:p>
          <a:p>
            <a:r>
              <a:rPr lang="en-IN" sz="1100" dirty="0">
                <a:latin typeface="Segoe UI Black" panose="020B0A02040204020203" pitchFamily="34" charset="0"/>
                <a:ea typeface="Segoe UI Black" panose="020B0A02040204020203" pitchFamily="34" charset="0"/>
              </a:rPr>
              <a:t>Seasonal pollution spikes</a:t>
            </a:r>
          </a:p>
          <a:p>
            <a:endParaRPr lang="en-IN" sz="1100" dirty="0">
              <a:latin typeface="Segoe UI Black" panose="020B0A02040204020203" pitchFamily="34" charset="0"/>
              <a:ea typeface="Segoe UI Black" panose="020B0A02040204020203" pitchFamily="34" charset="0"/>
            </a:endParaRPr>
          </a:p>
        </p:txBody>
      </p:sp>
      <p:sp>
        <p:nvSpPr>
          <p:cNvPr id="7" name="Content Placeholder 3">
            <a:extLst>
              <a:ext uri="{FF2B5EF4-FFF2-40B4-BE49-F238E27FC236}">
                <a16:creationId xmlns:a16="http://schemas.microsoft.com/office/drawing/2014/main" id="{F228CF25-D74F-B4FE-359B-8A5B2BD208FA}"/>
              </a:ext>
            </a:extLst>
          </p:cNvPr>
          <p:cNvSpPr txBox="1">
            <a:spLocks/>
          </p:cNvSpPr>
          <p:nvPr/>
        </p:nvSpPr>
        <p:spPr>
          <a:xfrm>
            <a:off x="4383808" y="3978997"/>
            <a:ext cx="3639127" cy="256078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1100" b="1" u="sng" dirty="0">
                <a:solidFill>
                  <a:srgbClr val="00B050"/>
                </a:solidFill>
                <a:latin typeface="Segoe UI Black" panose="020B0A02040204020203" pitchFamily="34" charset="0"/>
                <a:ea typeface="Segoe UI Black" panose="020B0A02040204020203" pitchFamily="34" charset="0"/>
              </a:rPr>
              <a:t>Seasonal Marketing Strategy</a:t>
            </a:r>
          </a:p>
          <a:p>
            <a:pPr marL="0" indent="0" algn="ctr">
              <a:buNone/>
            </a:pPr>
            <a:endParaRPr lang="en-US" sz="1100" b="1" u="sng" dirty="0">
              <a:latin typeface="Segoe UI Black" panose="020B0A02040204020203" pitchFamily="34" charset="0"/>
              <a:ea typeface="Segoe UI Black" panose="020B0A02040204020203" pitchFamily="34" charset="0"/>
            </a:endParaRPr>
          </a:p>
          <a:p>
            <a:r>
              <a:rPr lang="en-US" sz="1100" dirty="0">
                <a:latin typeface="Segoe UI Black" panose="020B0A02040204020203" pitchFamily="34" charset="0"/>
                <a:ea typeface="Segoe UI Black" panose="020B0A02040204020203" pitchFamily="34" charset="0"/>
              </a:rPr>
              <a:t>Heavy advertising push: </a:t>
            </a:r>
            <a:r>
              <a:rPr lang="en-US" sz="1100" b="1" dirty="0">
                <a:latin typeface="Segoe UI Black" panose="020B0A02040204020203" pitchFamily="34" charset="0"/>
                <a:ea typeface="Segoe UI Black" panose="020B0A02040204020203" pitchFamily="34" charset="0"/>
              </a:rPr>
              <a:t>October – January</a:t>
            </a:r>
            <a:endParaRPr lang="en-US" sz="1100" dirty="0">
              <a:latin typeface="Segoe UI Black" panose="020B0A02040204020203" pitchFamily="34" charset="0"/>
              <a:ea typeface="Segoe UI Black" panose="020B0A02040204020203" pitchFamily="34" charset="0"/>
            </a:endParaRPr>
          </a:p>
          <a:p>
            <a:r>
              <a:rPr lang="en-US" sz="1100" dirty="0">
                <a:latin typeface="Segoe UI Black" panose="020B0A02040204020203" pitchFamily="34" charset="0"/>
                <a:ea typeface="Segoe UI Black" panose="020B0A02040204020203" pitchFamily="34" charset="0"/>
              </a:rPr>
              <a:t>Focus on winter AQI surge</a:t>
            </a:r>
          </a:p>
          <a:p>
            <a:r>
              <a:rPr lang="en-US" sz="1100" dirty="0">
                <a:latin typeface="Segoe UI Black" panose="020B0A02040204020203" pitchFamily="34" charset="0"/>
                <a:ea typeface="Segoe UI Black" panose="020B0A02040204020203" pitchFamily="34" charset="0"/>
              </a:rPr>
              <a:t>Promote as “High Pollution Season Essential”</a:t>
            </a:r>
          </a:p>
          <a:p>
            <a:endParaRPr lang="en-IN" sz="1100" dirty="0">
              <a:latin typeface="Segoe UI Black" panose="020B0A02040204020203" pitchFamily="34" charset="0"/>
              <a:ea typeface="Segoe UI Black" panose="020B0A02040204020203" pitchFamily="34" charset="0"/>
            </a:endParaRPr>
          </a:p>
        </p:txBody>
      </p:sp>
    </p:spTree>
    <p:extLst>
      <p:ext uri="{BB962C8B-B14F-4D97-AF65-F5344CB8AC3E}">
        <p14:creationId xmlns:p14="http://schemas.microsoft.com/office/powerpoint/2010/main" val="14427378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710</TotalTime>
  <Words>1049</Words>
  <Application>Microsoft Office PowerPoint</Application>
  <PresentationFormat>Widescreen</PresentationFormat>
  <Paragraphs>165</Paragraphs>
  <Slides>11</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11</vt:i4>
      </vt:variant>
    </vt:vector>
  </HeadingPairs>
  <TitlesOfParts>
    <vt:vector size="17" baseType="lpstr">
      <vt:lpstr>Arial</vt:lpstr>
      <vt:lpstr>Calibri</vt:lpstr>
      <vt:lpstr>Calibri Light</vt:lpstr>
      <vt:lpstr>Segoe UI Black</vt:lpstr>
      <vt:lpstr>Wingdings</vt:lpstr>
      <vt:lpstr>Office Theme</vt:lpstr>
      <vt:lpstr>AirPure Innovation Product Market Fit Analysis</vt:lpstr>
      <vt:lpstr>Problem Statement</vt:lpstr>
      <vt:lpstr>Reports Created</vt:lpstr>
      <vt:lpstr>State - Area Wise Analysis</vt:lpstr>
      <vt:lpstr>Health Analysis</vt:lpstr>
      <vt:lpstr>EV Analysis</vt:lpstr>
      <vt:lpstr>Competitor Analysis</vt:lpstr>
      <vt:lpstr>PowerPoint Presentation</vt:lpstr>
      <vt:lpstr>Market Analysis</vt:lpstr>
      <vt:lpstr>PowerPoint Presentation</vt:lpstr>
      <vt:lpstr>Final Recommendation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rukma pawar</dc:creator>
  <cp:lastModifiedBy>rukma pawar</cp:lastModifiedBy>
  <cp:revision>1</cp:revision>
  <dcterms:created xsi:type="dcterms:W3CDTF">2026-02-19T13:43:49Z</dcterms:created>
  <dcterms:modified xsi:type="dcterms:W3CDTF">2026-02-20T01:34:37Z</dcterms:modified>
</cp:coreProperties>
</file>